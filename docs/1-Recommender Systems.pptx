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26"/>
  </p:notesMasterIdLst>
  <p:sldIdLst>
    <p:sldId id="280" r:id="rId2"/>
    <p:sldId id="311" r:id="rId3"/>
    <p:sldId id="608" r:id="rId4"/>
    <p:sldId id="610" r:id="rId5"/>
    <p:sldId id="651" r:id="rId6"/>
    <p:sldId id="613" r:id="rId7"/>
    <p:sldId id="615" r:id="rId8"/>
    <p:sldId id="616" r:id="rId9"/>
    <p:sldId id="617" r:id="rId10"/>
    <p:sldId id="612" r:id="rId11"/>
    <p:sldId id="634" r:id="rId12"/>
    <p:sldId id="635" r:id="rId13"/>
    <p:sldId id="620" r:id="rId14"/>
    <p:sldId id="652" r:id="rId15"/>
    <p:sldId id="637" r:id="rId16"/>
    <p:sldId id="619" r:id="rId17"/>
    <p:sldId id="639" r:id="rId18"/>
    <p:sldId id="638" r:id="rId19"/>
    <p:sldId id="642" r:id="rId20"/>
    <p:sldId id="645" r:id="rId21"/>
    <p:sldId id="621" r:id="rId22"/>
    <p:sldId id="647" r:id="rId23"/>
    <p:sldId id="622" r:id="rId24"/>
    <p:sldId id="62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1344" y="78"/>
      </p:cViewPr>
      <p:guideLst>
        <p:guide orient="horz" pos="2160"/>
        <p:guide pos="2880"/>
      </p:guideLst>
    </p:cSldViewPr>
  </p:slideViewPr>
  <p:notesTextViewPr>
    <p:cViewPr>
      <p:scale>
        <a:sx n="100" d="100"/>
        <a:sy n="100" d="100"/>
      </p:scale>
      <p:origin x="0" y="0"/>
    </p:cViewPr>
  </p:notesTextViewPr>
  <p:notesViewPr>
    <p:cSldViewPr snapToGrid="0" snapToObjects="1">
      <p:cViewPr>
        <p:scale>
          <a:sx n="200" d="100"/>
          <a:sy n="200" d="100"/>
        </p:scale>
        <p:origin x="163" y="-800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yad Abdulhameed Taha Ahmed Dr." userId="62ca5135-6821-4d66-b777-6c29d43860e6" providerId="ADAL" clId="{E5956D13-517F-4853-BBA8-15A237C76223}"/>
    <pc:docChg chg="custSel modSld">
      <pc:chgData name="Zeyad Abdulhameed Taha Ahmed Dr." userId="62ca5135-6821-4d66-b777-6c29d43860e6" providerId="ADAL" clId="{E5956D13-517F-4853-BBA8-15A237C76223}" dt="2026-08-15T03:30:25.623" v="1" actId="478"/>
      <pc:docMkLst>
        <pc:docMk/>
      </pc:docMkLst>
      <pc:sldChg chg="delSp modSp mod">
        <pc:chgData name="Zeyad Abdulhameed Taha Ahmed Dr." userId="62ca5135-6821-4d66-b777-6c29d43860e6" providerId="ADAL" clId="{E5956D13-517F-4853-BBA8-15A237C76223}" dt="2026-08-15T03:30:25.623" v="1" actId="478"/>
        <pc:sldMkLst>
          <pc:docMk/>
          <pc:sldMk cId="3655500541" sldId="280"/>
        </pc:sldMkLst>
        <pc:spChg chg="del mod">
          <ac:chgData name="Zeyad Abdulhameed Taha Ahmed Dr." userId="62ca5135-6821-4d66-b777-6c29d43860e6" providerId="ADAL" clId="{E5956D13-517F-4853-BBA8-15A237C76223}" dt="2026-08-15T03:30:25.623" v="1" actId="478"/>
          <ac:spMkLst>
            <pc:docMk/>
            <pc:sldMk cId="3655500541" sldId="280"/>
            <ac:spMk id="2" creationId="{9F99B6A5-549A-473A-8B75-487A33870404}"/>
          </ac:spMkLst>
        </pc:spChg>
      </pc:sldChg>
    </pc:docChg>
  </pc:docChgLst>
  <pc:docChgLst>
    <pc:chgData name="Zeyad Abdulhameed Taha Ahmed Dr." userId="62ca5135-6821-4d66-b777-6c29d43860e6" providerId="ADAL" clId="{1D231EBF-0865-43BE-B9FD-016644DC4BDB}"/>
    <pc:docChg chg="undo custSel addSld modSld">
      <pc:chgData name="Zeyad Abdulhameed Taha Ahmed Dr." userId="62ca5135-6821-4d66-b777-6c29d43860e6" providerId="ADAL" clId="{1D231EBF-0865-43BE-B9FD-016644DC4BDB}" dt="2026-01-08T16:42:33.144" v="146" actId="20577"/>
      <pc:docMkLst>
        <pc:docMk/>
      </pc:docMkLst>
      <pc:sldChg chg="modSp mod">
        <pc:chgData name="Zeyad Abdulhameed Taha Ahmed Dr." userId="62ca5135-6821-4d66-b777-6c29d43860e6" providerId="ADAL" clId="{1D231EBF-0865-43BE-B9FD-016644DC4BDB}" dt="2026-01-08T16:42:33.144" v="146" actId="20577"/>
        <pc:sldMkLst>
          <pc:docMk/>
          <pc:sldMk cId="3655500541" sldId="280"/>
        </pc:sldMkLst>
        <pc:spChg chg="mod">
          <ac:chgData name="Zeyad Abdulhameed Taha Ahmed Dr." userId="62ca5135-6821-4d66-b777-6c29d43860e6" providerId="ADAL" clId="{1D231EBF-0865-43BE-B9FD-016644DC4BDB}" dt="2026-01-08T16:42:33.144" v="146" actId="20577"/>
          <ac:spMkLst>
            <pc:docMk/>
            <pc:sldMk cId="3655500541" sldId="280"/>
            <ac:spMk id="2" creationId="{9F99B6A5-549A-473A-8B75-487A3387040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5DA80B-487E-4FD5-B81D-BB4AF3380AF4}" type="datetimeFigureOut">
              <a:rPr lang="en-GB" smtClean="0"/>
              <a:t>15/08/2026</a:t>
            </a:fld>
            <a:endParaRPr lang="en-GB"/>
          </a:p>
        </p:txBody>
      </p:sp>
      <p:sp>
        <p:nvSpPr>
          <p:cNvPr id="4" name="Slide Image Placeholder 3"/>
          <p:cNvSpPr>
            <a:spLocks noGrp="1" noRot="1" noChangeAspect="1"/>
          </p:cNvSpPr>
          <p:nvPr>
            <p:ph type="sldImg" idx="2"/>
          </p:nvPr>
        </p:nvSpPr>
        <p:spPr>
          <a:xfrm>
            <a:off x="136398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0ED6AE-A6C0-4C43-B300-C0B8F82B5DAD}" type="slidenum">
              <a:rPr lang="en-GB" smtClean="0"/>
              <a:t>‹#›</a:t>
            </a:fld>
            <a:endParaRPr lang="en-GB"/>
          </a:p>
        </p:txBody>
      </p:sp>
    </p:spTree>
    <p:extLst>
      <p:ext uri="{BB962C8B-B14F-4D97-AF65-F5344CB8AC3E}">
        <p14:creationId xmlns:p14="http://schemas.microsoft.com/office/powerpoint/2010/main" val="1234580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Slide Number Placeholder 5"/>
          <p:cNvSpPr>
            <a:spLocks noGrp="1"/>
          </p:cNvSpPr>
          <p:nvPr>
            <p:ph type="sldNum" sz="quarter" idx="12"/>
          </p:nvPr>
        </p:nvSpPr>
        <p:spPr>
          <a:xfrm>
            <a:off x="8340435" y="6230773"/>
            <a:ext cx="512016" cy="365125"/>
          </a:xfrm>
          <a:solidFill>
            <a:schemeClr val="tx2">
              <a:lumMod val="20000"/>
              <a:lumOff val="80000"/>
            </a:schemeClr>
          </a:solidFill>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507247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6"/>
            <a:ext cx="8238707" cy="665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p:cNvSpPr>
            <a:spLocks noGrp="1"/>
          </p:cNvSpPr>
          <p:nvPr>
            <p:ph type="title" hasCustomPrompt="1"/>
          </p:nvPr>
        </p:nvSpPr>
        <p:spPr>
          <a:xfrm>
            <a:off x="581192" y="687475"/>
            <a:ext cx="7989752" cy="513252"/>
          </a:xfrm>
        </p:spPr>
        <p:txBody>
          <a:bodyPr/>
          <a:lstStyle>
            <a:lvl1pPr>
              <a:defRPr cap="none">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581192" y="2228003"/>
            <a:ext cx="7989752" cy="3630795"/>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3476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93095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843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a:xfrm>
            <a:off x="581192" y="6247731"/>
            <a:ext cx="4870585" cy="365125"/>
          </a:xfrm>
          <a:prstGeom prst="rect">
            <a:avLst/>
          </a:prstGeom>
        </p:spPr>
        <p:txBody>
          <a:bodyPr/>
          <a:lstStyle/>
          <a:p>
            <a:endParaRPr lang="en-US"/>
          </a:p>
        </p:txBody>
      </p:sp>
      <p:sp>
        <p:nvSpPr>
          <p:cNvPr id="9" name="Slide Number Placeholder 8"/>
          <p:cNvSpPr>
            <a:spLocks noGrp="1"/>
          </p:cNvSpPr>
          <p:nvPr>
            <p:ph type="sldNum" sz="quarter" idx="12"/>
          </p:nvPr>
        </p:nvSpPr>
        <p:spPr>
          <a:solidFill>
            <a:schemeClr val="bg2">
              <a:lumMod val="90000"/>
            </a:schemeClr>
          </a:solidFill>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5823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1227797"/>
            <a:ext cx="8238707" cy="391685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a:xfrm>
            <a:off x="581192" y="6247731"/>
            <a:ext cx="4870585"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9565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a:xfrm>
            <a:off x="581192" y="6247731"/>
            <a:ext cx="4870585"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8761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endParaRPr lang="en-US"/>
          </a:p>
        </p:txBody>
      </p:sp>
      <p:sp>
        <p:nvSpPr>
          <p:cNvPr id="6" name="Footer Placeholder 5"/>
          <p:cNvSpPr>
            <a:spLocks noGrp="1"/>
          </p:cNvSpPr>
          <p:nvPr>
            <p:ph type="ftr" sz="quarter" idx="11"/>
          </p:nvPr>
        </p:nvSpPr>
        <p:spPr>
          <a:xfrm>
            <a:off x="581192" y="6247731"/>
            <a:ext cx="4870585" cy="365125"/>
          </a:xfrm>
          <a:prstGeom prst="rect">
            <a:avLst/>
          </a:prstGeom>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9883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a:xfrm>
            <a:off x="581192" y="6247731"/>
            <a:ext cx="4870585"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3114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581192" y="6247731"/>
            <a:ext cx="4870585"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4097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endParaRPr lang="en-US"/>
          </a:p>
        </p:txBody>
      </p:sp>
      <p:sp>
        <p:nvSpPr>
          <p:cNvPr id="5" name="Footer Placeholder 4"/>
          <p:cNvSpPr>
            <a:spLocks noGrp="1"/>
          </p:cNvSpPr>
          <p:nvPr>
            <p:ph type="ftr" sz="quarter" idx="11"/>
          </p:nvPr>
        </p:nvSpPr>
        <p:spPr>
          <a:xfrm>
            <a:off x="581192" y="5951810"/>
            <a:ext cx="5922209"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49407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2F22E408-EF1D-4BD0-98E0-8FC4C9B3A82C}"/>
              </a:ext>
            </a:extLst>
          </p:cNvPr>
          <p:cNvSpPr txBox="1">
            <a:spLocks/>
          </p:cNvSpPr>
          <p:nvPr userDrawn="1"/>
        </p:nvSpPr>
        <p:spPr>
          <a:xfrm>
            <a:off x="8815648" y="6625243"/>
            <a:ext cx="328352" cy="232757"/>
          </a:xfrm>
          <a:prstGeom prst="rect">
            <a:avLst/>
          </a:prstGeom>
          <a:solidFill>
            <a:schemeClr val="accent4"/>
          </a:solidFill>
        </p:spPr>
        <p:txBody>
          <a:bodyPr vert="horz" lIns="68580" tIns="34290" rIns="68580" bIns="3429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9631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1" y="2228003"/>
            <a:ext cx="8294953" cy="4440652"/>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854891" y="6238495"/>
            <a:ext cx="2133600" cy="365125"/>
          </a:xfrm>
          <a:prstGeom prst="rect">
            <a:avLst/>
          </a:prstGeom>
        </p:spPr>
        <p:txBody>
          <a:bodyPr vert="horz" lIns="91440" tIns="45720" rIns="91440" bIns="45720" rtlCol="0" anchor="ctr"/>
          <a:lstStyle>
            <a:lvl1pPr algn="r">
              <a:defRPr sz="900">
                <a:solidFill>
                  <a:schemeClr val="accent2"/>
                </a:solidFill>
              </a:defRPr>
            </a:lvl1pPr>
          </a:lstStyle>
          <a:p>
            <a:endParaRPr lang="en-US" dirty="0"/>
          </a:p>
        </p:txBody>
      </p:sp>
      <p:sp>
        <p:nvSpPr>
          <p:cNvPr id="6" name="Slide Number Placeholder 5"/>
          <p:cNvSpPr>
            <a:spLocks noGrp="1"/>
          </p:cNvSpPr>
          <p:nvPr>
            <p:ph type="sldNum" sz="quarter" idx="4"/>
          </p:nvPr>
        </p:nvSpPr>
        <p:spPr>
          <a:xfrm>
            <a:off x="8081983" y="6230773"/>
            <a:ext cx="770468" cy="365125"/>
          </a:xfrm>
          <a:prstGeom prst="rect">
            <a:avLst/>
          </a:prstGeom>
        </p:spPr>
        <p:txBody>
          <a:bodyPr vert="horz" lIns="91440" tIns="45720" rIns="91440" bIns="45720" rtlCol="0" anchor="ctr"/>
          <a:lstStyle>
            <a:lvl1pPr algn="r">
              <a:defRPr sz="900">
                <a:solidFill>
                  <a:schemeClr val="accent2"/>
                </a:solidFill>
              </a:defRPr>
            </a:lvl1pPr>
          </a:lstStyle>
          <a:p>
            <a:fld id="{C1FF6DA9-008F-8B48-92A6-B652298478BF}" type="slidenum">
              <a:rPr lang="en-US" smtClean="0"/>
              <a:t>‹#›</a:t>
            </a:fld>
            <a:endParaRPr lang="en-US" dirty="0"/>
          </a:p>
        </p:txBody>
      </p:sp>
      <p:sp>
        <p:nvSpPr>
          <p:cNvPr id="9" name="Rectangle 8"/>
          <p:cNvSpPr/>
          <p:nvPr/>
        </p:nvSpPr>
        <p:spPr>
          <a:xfrm>
            <a:off x="448091" y="441325"/>
            <a:ext cx="2858527"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1" name="Rectangle 10"/>
          <p:cNvSpPr/>
          <p:nvPr/>
        </p:nvSpPr>
        <p:spPr>
          <a:xfrm>
            <a:off x="3216601" y="450561"/>
            <a:ext cx="2944054" cy="9541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
        <p:nvSpPr>
          <p:cNvPr id="12" name="Rectangle 11">
            <a:extLst>
              <a:ext uri="{FF2B5EF4-FFF2-40B4-BE49-F238E27FC236}">
                <a16:creationId xmlns:a16="http://schemas.microsoft.com/office/drawing/2014/main" id="{0A395283-5234-4B65-B0C9-D21129F91941}"/>
              </a:ext>
            </a:extLst>
          </p:cNvPr>
          <p:cNvSpPr/>
          <p:nvPr userDrawn="1"/>
        </p:nvSpPr>
        <p:spPr>
          <a:xfrm>
            <a:off x="693752" y="6032863"/>
            <a:ext cx="7989752"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MY"/>
          </a:p>
        </p:txBody>
      </p:sp>
    </p:spTree>
    <p:extLst>
      <p:ext uri="{BB962C8B-B14F-4D97-AF65-F5344CB8AC3E}">
        <p14:creationId xmlns:p14="http://schemas.microsoft.com/office/powerpoint/2010/main" val="10276184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4000"/>
            <a:lum/>
          </a:blip>
          <a:srcRect/>
          <a:stretch>
            <a:fillRect t="-17000" b="-17000"/>
          </a:stretch>
        </a:blipFill>
        <a:effectLst/>
      </p:bgPr>
    </p:bg>
    <p:spTree>
      <p:nvGrpSpPr>
        <p:cNvPr id="1" name=""/>
        <p:cNvGrpSpPr/>
        <p:nvPr/>
      </p:nvGrpSpPr>
      <p:grpSpPr>
        <a:xfrm>
          <a:off x="0" y="0"/>
          <a:ext cx="0" cy="0"/>
          <a:chOff x="0" y="0"/>
          <a:chExt cx="0" cy="0"/>
        </a:xfrm>
      </p:grpSpPr>
      <p:pic>
        <p:nvPicPr>
          <p:cNvPr id="5" name="Picture 2" descr="INTI International University &amp; Colleges | Malaysia">
            <a:extLst>
              <a:ext uri="{FF2B5EF4-FFF2-40B4-BE49-F238E27FC236}">
                <a16:creationId xmlns:a16="http://schemas.microsoft.com/office/drawing/2014/main" id="{1D662761-2DC2-B87A-902A-FBF383D5D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3307" y="562678"/>
            <a:ext cx="3662382" cy="788587"/>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11"/>
          <p:cNvSpPr txBox="1">
            <a:spLocks/>
          </p:cNvSpPr>
          <p:nvPr/>
        </p:nvSpPr>
        <p:spPr>
          <a:xfrm>
            <a:off x="3623829" y="5395309"/>
            <a:ext cx="5520171" cy="1278614"/>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225"/>
              </a:spcBef>
            </a:pPr>
            <a:r>
              <a:rPr lang="en-US" sz="2000" dirty="0">
                <a:effectLst>
                  <a:outerShdw blurRad="38100" dist="38100" dir="2700000" algn="tl">
                    <a:srgbClr val="000000">
                      <a:alpha val="43137"/>
                    </a:srgbClr>
                  </a:outerShdw>
                </a:effectLst>
              </a:rPr>
              <a:t>Dr. Zeyad Ahmed</a:t>
            </a:r>
            <a:endParaRPr lang="en-US" sz="2000" dirty="0"/>
          </a:p>
        </p:txBody>
      </p:sp>
      <p:sp>
        <p:nvSpPr>
          <p:cNvPr id="14" name="Subtitle 11">
            <a:extLst>
              <a:ext uri="{FF2B5EF4-FFF2-40B4-BE49-F238E27FC236}">
                <a16:creationId xmlns:a16="http://schemas.microsoft.com/office/drawing/2014/main" id="{7DD300AE-D81E-4AC8-BC57-566B57D6C660}"/>
              </a:ext>
            </a:extLst>
          </p:cNvPr>
          <p:cNvSpPr txBox="1">
            <a:spLocks/>
          </p:cNvSpPr>
          <p:nvPr/>
        </p:nvSpPr>
        <p:spPr>
          <a:xfrm>
            <a:off x="89452" y="2406747"/>
            <a:ext cx="1787193" cy="438401"/>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225"/>
              </a:spcBef>
            </a:pPr>
            <a:endParaRPr lang="en-US" sz="1000" b="0" dirty="0"/>
          </a:p>
        </p:txBody>
      </p:sp>
      <p:sp>
        <p:nvSpPr>
          <p:cNvPr id="17" name="Rectangle: Rounded Corners 16">
            <a:extLst>
              <a:ext uri="{FF2B5EF4-FFF2-40B4-BE49-F238E27FC236}">
                <a16:creationId xmlns:a16="http://schemas.microsoft.com/office/drawing/2014/main" id="{F2213882-6464-4A96-96D5-EA4F95F404DE}"/>
              </a:ext>
            </a:extLst>
          </p:cNvPr>
          <p:cNvSpPr/>
          <p:nvPr/>
        </p:nvSpPr>
        <p:spPr>
          <a:xfrm>
            <a:off x="715655" y="3892643"/>
            <a:ext cx="8212950" cy="908962"/>
          </a:xfrm>
          <a:prstGeom prst="roundRect">
            <a:avLst/>
          </a:prstGeom>
          <a:solidFill>
            <a:schemeClr val="accent2">
              <a:lumMod val="75000"/>
            </a:schemeClr>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IN" sz="2400" b="1" dirty="0">
                <a:solidFill>
                  <a:schemeClr val="bg1"/>
                </a:solidFill>
                <a:latin typeface="Times New Roman" panose="02020603050405020304" pitchFamily="18" charset="0"/>
                <a:cs typeface="Times New Roman" panose="02020603050405020304" pitchFamily="18" charset="0"/>
              </a:rPr>
              <a:t>ARTIFICIAL INTELLIGENCE</a:t>
            </a:r>
            <a:br>
              <a:rPr lang="en-IN" sz="2400" b="1" dirty="0">
                <a:solidFill>
                  <a:schemeClr val="bg1"/>
                </a:solidFill>
                <a:latin typeface="Times New Roman" panose="02020603050405020304" pitchFamily="18" charset="0"/>
                <a:cs typeface="Times New Roman" panose="02020603050405020304" pitchFamily="18" charset="0"/>
              </a:rPr>
            </a:br>
            <a:r>
              <a:rPr lang="en-IN" sz="2400" b="1" dirty="0">
                <a:solidFill>
                  <a:schemeClr val="bg1"/>
                </a:solidFill>
                <a:latin typeface="Times New Roman" panose="02020603050405020304" pitchFamily="18" charset="0"/>
                <a:cs typeface="Times New Roman" panose="02020603050405020304" pitchFamily="18" charset="0"/>
              </a:rPr>
              <a:t>(</a:t>
            </a:r>
            <a:r>
              <a:rPr lang="en-US" sz="2400" b="1" dirty="0">
                <a:solidFill>
                  <a:schemeClr val="bg1"/>
                </a:solidFill>
                <a:latin typeface="Times New Roman" panose="02020603050405020304" pitchFamily="18" charset="0"/>
                <a:cs typeface="Times New Roman" panose="02020603050405020304" pitchFamily="18" charset="0"/>
              </a:rPr>
              <a:t>Recommender Systems</a:t>
            </a:r>
            <a:r>
              <a:rPr lang="en-IN" sz="2400" b="1" dirty="0">
                <a:solidFill>
                  <a:schemeClr val="bg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5500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EE110-96DE-7E5B-A145-51225C8631F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0EBC9-FBDD-3A69-58E2-92D083C05D60}"/>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D7E0B3EC-E66A-D3A3-32FC-754F04265F2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descr="A screenshot of a mobile device&#10;&#10;AI-generated content may be incorrect.">
            <a:extLst>
              <a:ext uri="{FF2B5EF4-FFF2-40B4-BE49-F238E27FC236}">
                <a16:creationId xmlns:a16="http://schemas.microsoft.com/office/drawing/2014/main" id="{99C1342F-B54C-52B6-CCC2-4E66C8B778A4}"/>
              </a:ext>
            </a:extLst>
          </p:cNvPr>
          <p:cNvPicPr>
            <a:picLocks noChangeAspect="1"/>
          </p:cNvPicPr>
          <p:nvPr/>
        </p:nvPicPr>
        <p:blipFill>
          <a:blip r:embed="rId2"/>
          <a:stretch>
            <a:fillRect/>
          </a:stretch>
        </p:blipFill>
        <p:spPr>
          <a:xfrm>
            <a:off x="573056" y="1328057"/>
            <a:ext cx="7732744" cy="4551707"/>
          </a:xfrm>
          <a:prstGeom prst="rect">
            <a:avLst/>
          </a:prstGeom>
        </p:spPr>
      </p:pic>
    </p:spTree>
    <p:extLst>
      <p:ext uri="{BB962C8B-B14F-4D97-AF65-F5344CB8AC3E}">
        <p14:creationId xmlns:p14="http://schemas.microsoft.com/office/powerpoint/2010/main" val="3445500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4EDF0-0CFB-8389-0F67-9029D4675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AEAD7-9C7D-E50C-8709-8BBABF1867CE}"/>
              </a:ext>
            </a:extLst>
          </p:cNvPr>
          <p:cNvSpPr>
            <a:spLocks noGrp="1"/>
          </p:cNvSpPr>
          <p:nvPr>
            <p:ph type="title"/>
          </p:nvPr>
        </p:nvSpPr>
        <p:spPr/>
        <p:txBody>
          <a:bodyPr>
            <a:normAutofit fontScale="90000"/>
          </a:bodyPr>
          <a:lstStyle/>
          <a:p>
            <a:r>
              <a:rPr lang="en-GB" b="1" dirty="0">
                <a:latin typeface="Times New Roman" panose="02020603050405020304" pitchFamily="18" charset="0"/>
                <a:cs typeface="Times New Roman" panose="02020603050405020304" pitchFamily="18" charset="0"/>
              </a:rPr>
              <a:t>Shopee </a:t>
            </a:r>
          </a:p>
        </p:txBody>
      </p:sp>
      <p:sp>
        <p:nvSpPr>
          <p:cNvPr id="4" name="Slide Number Placeholder 3">
            <a:extLst>
              <a:ext uri="{FF2B5EF4-FFF2-40B4-BE49-F238E27FC236}">
                <a16:creationId xmlns:a16="http://schemas.microsoft.com/office/drawing/2014/main" id="{CBBEC6FF-AD0B-A4A3-ED78-E44836809F92}"/>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5D223163-D895-AACB-159B-7EA1C7258CC2}"/>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a:extLst>
              <a:ext uri="{FF2B5EF4-FFF2-40B4-BE49-F238E27FC236}">
                <a16:creationId xmlns:a16="http://schemas.microsoft.com/office/drawing/2014/main" id="{278582FA-07A1-8632-7215-8511A63A328B}"/>
              </a:ext>
            </a:extLst>
          </p:cNvPr>
          <p:cNvPicPr>
            <a:picLocks noChangeAspect="1"/>
          </p:cNvPicPr>
          <p:nvPr/>
        </p:nvPicPr>
        <p:blipFill>
          <a:blip r:embed="rId2"/>
          <a:stretch>
            <a:fillRect/>
          </a:stretch>
        </p:blipFill>
        <p:spPr>
          <a:xfrm>
            <a:off x="337457" y="1575455"/>
            <a:ext cx="8164286" cy="3658620"/>
          </a:xfrm>
          <a:prstGeom prst="rect">
            <a:avLst/>
          </a:prstGeom>
        </p:spPr>
      </p:pic>
    </p:spTree>
    <p:extLst>
      <p:ext uri="{BB962C8B-B14F-4D97-AF65-F5344CB8AC3E}">
        <p14:creationId xmlns:p14="http://schemas.microsoft.com/office/powerpoint/2010/main" val="625039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92EB7-3B7B-B3BE-9D4B-141E587B31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FE70C-034A-391B-F8D4-91FFC8560A44}"/>
              </a:ext>
            </a:extLst>
          </p:cNvPr>
          <p:cNvSpPr>
            <a:spLocks noGrp="1"/>
          </p:cNvSpPr>
          <p:nvPr>
            <p:ph type="title"/>
          </p:nvPr>
        </p:nvSpPr>
        <p:spPr/>
        <p:txBody>
          <a:bodyPr>
            <a:normAutofit fontScale="90000"/>
          </a:bodyPr>
          <a:lstStyle/>
          <a:p>
            <a:r>
              <a:rPr lang="en-US" b="1" dirty="0" err="1">
                <a:latin typeface="Times New Roman" panose="02020603050405020304" pitchFamily="18" charset="0"/>
                <a:cs typeface="Times New Roman" panose="02020603050405020304" pitchFamily="18" charset="0"/>
              </a:rPr>
              <a:t>NeTFLIX</a:t>
            </a:r>
            <a:r>
              <a:rPr lang="en-GB" b="1"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577554CE-F0BF-EABE-B3C8-5FB4779F6028}"/>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D1A89868-63F9-84DE-41D7-24EAAF32733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026" name="Picture 2">
            <a:extLst>
              <a:ext uri="{FF2B5EF4-FFF2-40B4-BE49-F238E27FC236}">
                <a16:creationId xmlns:a16="http://schemas.microsoft.com/office/drawing/2014/main" id="{EB985062-9F47-312D-992C-80C554E440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185" y="1273968"/>
            <a:ext cx="7826829" cy="4614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058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62E89-1178-7886-92C1-7A5AF5E25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081CB-460E-2F11-A7B0-93FCF821B311}"/>
              </a:ext>
            </a:extLst>
          </p:cNvPr>
          <p:cNvSpPr>
            <a:spLocks noGrp="1"/>
          </p:cNvSpPr>
          <p:nvPr>
            <p:ph type="title"/>
          </p:nvPr>
        </p:nvSpPr>
        <p:spPr/>
        <p:txBody>
          <a:bodyPr>
            <a:normAutofit fontScale="90000"/>
          </a:bodyPr>
          <a:lstStyle/>
          <a:p>
            <a:r>
              <a:rPr lang="en-GB" b="1"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6C72D6FB-6602-F69F-6966-565E23CCC60C}"/>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C910B99B-D4EC-A3F3-0DD8-1847F1302C98}"/>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2050" name="Picture 2" descr="Job Recommender System Part-1: Introduction to Recommender Systems | by  Gowtham | Tech Musings">
            <a:extLst>
              <a:ext uri="{FF2B5EF4-FFF2-40B4-BE49-F238E27FC236}">
                <a16:creationId xmlns:a16="http://schemas.microsoft.com/office/drawing/2014/main" id="{2CDD87D6-7514-6675-9511-42917C1EC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6429" y="1441888"/>
            <a:ext cx="7141029" cy="400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867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4832E-5D07-EFA6-E42F-EA5222529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B2DF12-5243-C8A5-F14A-3D4701B8228E}"/>
              </a:ext>
            </a:extLst>
          </p:cNvPr>
          <p:cNvSpPr>
            <a:spLocks noGrp="1"/>
          </p:cNvSpPr>
          <p:nvPr>
            <p:ph type="title"/>
          </p:nvPr>
        </p:nvSpPr>
        <p:spPr/>
        <p:txBody>
          <a:bodyPr>
            <a:normAutofit fontScale="90000"/>
          </a:bodyPr>
          <a:lstStyle/>
          <a:p>
            <a:r>
              <a:rPr lang="en-GB" b="1" dirty="0">
                <a:latin typeface="Times New Roman" panose="02020603050405020304" pitchFamily="18" charset="0"/>
                <a:cs typeface="Times New Roman" panose="02020603050405020304" pitchFamily="18" charset="0"/>
              </a:rPr>
              <a:t>Defining Recommender Systems</a:t>
            </a:r>
          </a:p>
        </p:txBody>
      </p:sp>
      <p:sp>
        <p:nvSpPr>
          <p:cNvPr id="4" name="Slide Number Placeholder 3">
            <a:extLst>
              <a:ext uri="{FF2B5EF4-FFF2-40B4-BE49-F238E27FC236}">
                <a16:creationId xmlns:a16="http://schemas.microsoft.com/office/drawing/2014/main" id="{F157E1FC-8C56-750E-1F4F-DEE7D206BB6C}"/>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786C68B3-9F86-2545-5F49-465DA1CC921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TextBox 4">
            <a:extLst>
              <a:ext uri="{FF2B5EF4-FFF2-40B4-BE49-F238E27FC236}">
                <a16:creationId xmlns:a16="http://schemas.microsoft.com/office/drawing/2014/main" id="{1A7556B1-8330-AA50-BBB6-D57438CA3B23}"/>
              </a:ext>
            </a:extLst>
          </p:cNvPr>
          <p:cNvSpPr txBox="1"/>
          <p:nvPr/>
        </p:nvSpPr>
        <p:spPr>
          <a:xfrm>
            <a:off x="747796" y="2297685"/>
            <a:ext cx="7648408" cy="2638158"/>
          </a:xfrm>
          <a:prstGeom prst="rect">
            <a:avLst/>
          </a:prstGeom>
          <a:noFill/>
        </p:spPr>
        <p:txBody>
          <a:bodyPr wrap="square">
            <a:spAutoFit/>
          </a:bodyPr>
          <a:lstStyle/>
          <a:p>
            <a:pPr algn="just">
              <a:lnSpc>
                <a:spcPct val="150000"/>
              </a:lnSpc>
              <a:spcAft>
                <a:spcPts val="225"/>
              </a:spcAft>
              <a:buFont typeface="Arial" panose="020B0604020202020204" pitchFamily="34" charset="0"/>
              <a:buChar char="•"/>
            </a:pPr>
            <a:r>
              <a:rPr lang="en-US" b="0" i="0" dirty="0">
                <a:solidFill>
                  <a:srgbClr val="1A1C1E"/>
                </a:solidFill>
                <a:effectLst/>
                <a:latin typeface="Times New Roman" panose="02020603050405020304" pitchFamily="18" charset="0"/>
                <a:cs typeface="Times New Roman" panose="02020603050405020304" pitchFamily="18" charset="0"/>
              </a:rPr>
              <a:t> Recommender Systems are algorithms designed to:</a:t>
            </a:r>
          </a:p>
          <a:p>
            <a:pPr marL="742950" lvl="1" indent="-285750" algn="just">
              <a:lnSpc>
                <a:spcPct val="150000"/>
              </a:lnSpc>
              <a:spcAft>
                <a:spcPts val="225"/>
              </a:spcAft>
              <a:buFont typeface="Arial" panose="020B0604020202020204" pitchFamily="34" charset="0"/>
              <a:buChar char="•"/>
            </a:pPr>
            <a:r>
              <a:rPr lang="en-US" b="0" i="0" dirty="0">
                <a:solidFill>
                  <a:srgbClr val="1A1C1E"/>
                </a:solidFill>
                <a:effectLst/>
                <a:latin typeface="Times New Roman" panose="02020603050405020304" pitchFamily="18" charset="0"/>
                <a:cs typeface="Times New Roman" panose="02020603050405020304" pitchFamily="18" charset="0"/>
              </a:rPr>
              <a:t>Predict user interests.</a:t>
            </a:r>
          </a:p>
          <a:p>
            <a:pPr marL="742950" lvl="1" indent="-285750" algn="just">
              <a:lnSpc>
                <a:spcPct val="150000"/>
              </a:lnSpc>
              <a:spcAft>
                <a:spcPts val="225"/>
              </a:spcAft>
              <a:buFont typeface="Arial" panose="020B0604020202020204" pitchFamily="34" charset="0"/>
              <a:buChar char="•"/>
            </a:pPr>
            <a:r>
              <a:rPr lang="en-US" b="0" i="0" dirty="0">
                <a:solidFill>
                  <a:srgbClr val="1A1C1E"/>
                </a:solidFill>
                <a:effectLst/>
                <a:latin typeface="Times New Roman" panose="02020603050405020304" pitchFamily="18" charset="0"/>
                <a:cs typeface="Times New Roman" panose="02020603050405020304" pitchFamily="18" charset="0"/>
              </a:rPr>
              <a:t>Suggest relevant items to individual users.</a:t>
            </a:r>
          </a:p>
          <a:p>
            <a:pPr algn="just">
              <a:lnSpc>
                <a:spcPct val="150000"/>
              </a:lnSpc>
              <a:spcAft>
                <a:spcPts val="225"/>
              </a:spcAft>
              <a:buFont typeface="Arial" panose="020B0604020202020204" pitchFamily="34" charset="0"/>
              <a:buChar char="•"/>
            </a:pPr>
            <a:r>
              <a:rPr lang="en-US" b="0" i="0" dirty="0">
                <a:solidFill>
                  <a:srgbClr val="1A1C1E"/>
                </a:solidFill>
                <a:effectLst/>
                <a:latin typeface="Times New Roman" panose="02020603050405020304" pitchFamily="18" charset="0"/>
                <a:cs typeface="Times New Roman" panose="02020603050405020304" pitchFamily="18" charset="0"/>
              </a:rPr>
              <a:t>This prediction and recommendation process is typically based on </a:t>
            </a:r>
            <a:r>
              <a:rPr lang="en-US" b="1" i="0" dirty="0">
                <a:solidFill>
                  <a:srgbClr val="1A1C1E"/>
                </a:solidFill>
                <a:effectLst/>
                <a:latin typeface="Times New Roman" panose="02020603050405020304" pitchFamily="18" charset="0"/>
                <a:cs typeface="Times New Roman" panose="02020603050405020304" pitchFamily="18" charset="0"/>
              </a:rPr>
              <a:t>analyzing patterns within a dataset.</a:t>
            </a:r>
          </a:p>
          <a:p>
            <a:pPr algn="just">
              <a:lnSpc>
                <a:spcPct val="150000"/>
              </a:lnSpc>
              <a:spcAft>
                <a:spcPts val="225"/>
              </a:spcAft>
              <a:buFont typeface="Arial" panose="020B0604020202020204" pitchFamily="34" charset="0"/>
              <a:buChar char="•"/>
            </a:pPr>
            <a:r>
              <a:rPr lang="en-US" b="0" i="0" dirty="0">
                <a:solidFill>
                  <a:srgbClr val="1A1C1E"/>
                </a:solidFill>
                <a:effectLst/>
                <a:latin typeface="Times New Roman" panose="02020603050405020304" pitchFamily="18" charset="0"/>
                <a:cs typeface="Times New Roman" panose="02020603050405020304" pitchFamily="18" charset="0"/>
              </a:rPr>
              <a:t>The </a:t>
            </a:r>
            <a:r>
              <a:rPr lang="en-US" b="1" i="0" dirty="0">
                <a:solidFill>
                  <a:srgbClr val="1A1C1E"/>
                </a:solidFill>
                <a:effectLst/>
                <a:latin typeface="Times New Roman" panose="02020603050405020304" pitchFamily="18" charset="0"/>
                <a:cs typeface="Times New Roman" panose="02020603050405020304" pitchFamily="18" charset="0"/>
              </a:rPr>
              <a:t>objective</a:t>
            </a:r>
            <a:r>
              <a:rPr lang="en-US" b="0" i="0" dirty="0">
                <a:solidFill>
                  <a:srgbClr val="1A1C1E"/>
                </a:solidFill>
                <a:effectLst/>
                <a:latin typeface="Times New Roman" panose="02020603050405020304" pitchFamily="18" charset="0"/>
                <a:cs typeface="Times New Roman" panose="02020603050405020304" pitchFamily="18" charset="0"/>
              </a:rPr>
              <a:t> is to enhance the user experience and achieve business </a:t>
            </a:r>
            <a:r>
              <a:rPr lang="en-US" b="1" i="0" dirty="0">
                <a:solidFill>
                  <a:srgbClr val="1A1C1E"/>
                </a:solidFill>
                <a:effectLst/>
                <a:latin typeface="Times New Roman" panose="02020603050405020304" pitchFamily="18" charset="0"/>
                <a:cs typeface="Times New Roman" panose="02020603050405020304" pitchFamily="18" charset="0"/>
              </a:rPr>
              <a:t>goals</a:t>
            </a:r>
            <a:r>
              <a:rPr lang="en-US" b="0" i="0" dirty="0">
                <a:solidFill>
                  <a:srgbClr val="1A1C1E"/>
                </a:solidFill>
                <a:effectLst/>
                <a:latin typeface="Times New Roman" panose="02020603050405020304" pitchFamily="18" charset="0"/>
                <a:cs typeface="Times New Roman" panose="02020603050405020304" pitchFamily="18" charset="0"/>
              </a:rPr>
              <a:t>.</a:t>
            </a:r>
          </a:p>
        </p:txBody>
      </p:sp>
      <p:sp>
        <p:nvSpPr>
          <p:cNvPr id="6" name="Rectangle 3">
            <a:extLst>
              <a:ext uri="{FF2B5EF4-FFF2-40B4-BE49-F238E27FC236}">
                <a16:creationId xmlns:a16="http://schemas.microsoft.com/office/drawing/2014/main" id="{1D59E622-E96B-5D51-BADD-4BF2AF6F4398}"/>
              </a:ext>
            </a:extLst>
          </p:cNvPr>
          <p:cNvSpPr>
            <a:spLocks noChangeArrowheads="1"/>
          </p:cNvSpPr>
          <p:nvPr/>
        </p:nvSpPr>
        <p:spPr bwMode="auto">
          <a:xfrm>
            <a:off x="341344" y="1374355"/>
            <a:ext cx="82296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Recommender Systems are smart systems that predict what items (like movies, products, music, articles) a user will like and suggest them. They are a type of information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a:t>
            </a:r>
          </a:p>
        </p:txBody>
      </p:sp>
    </p:spTree>
    <p:extLst>
      <p:ext uri="{BB962C8B-B14F-4D97-AF65-F5344CB8AC3E}">
        <p14:creationId xmlns:p14="http://schemas.microsoft.com/office/powerpoint/2010/main" val="66247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3487F-C8A7-0586-449F-A071A9F9D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051A01-6144-DCB6-D0A0-0EC57DA5CBFD}"/>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Why are they so popular?</a:t>
            </a:r>
            <a:endParaRPr lang="en-GB"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74D1E37-9F69-2F32-26FE-A7D1B855EB0A}"/>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D340DF0B-7515-F2A4-C742-131BD259A0AA}"/>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Rectangle 1">
            <a:extLst>
              <a:ext uri="{FF2B5EF4-FFF2-40B4-BE49-F238E27FC236}">
                <a16:creationId xmlns:a16="http://schemas.microsoft.com/office/drawing/2014/main" id="{792E823F-D6D1-0BB8-6245-9B3E6BC0F9CA}"/>
              </a:ext>
            </a:extLst>
          </p:cNvPr>
          <p:cNvSpPr>
            <a:spLocks noChangeArrowheads="1"/>
          </p:cNvSpPr>
          <p:nvPr/>
        </p:nvSpPr>
        <p:spPr bwMode="auto">
          <a:xfrm>
            <a:off x="505014" y="1906422"/>
            <a:ext cx="8057794"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make online platforms easier and more enjoyable to use by reducing effort in finding desired items.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help companies sell more by showing relevant items that users are likely to purchase or engage with.</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introduce users to new things they might not have found otherwise, promoting discovery.</a:t>
            </a:r>
          </a:p>
        </p:txBody>
      </p:sp>
    </p:spTree>
    <p:extLst>
      <p:ext uri="{BB962C8B-B14F-4D97-AF65-F5344CB8AC3E}">
        <p14:creationId xmlns:p14="http://schemas.microsoft.com/office/powerpoint/2010/main" val="1175751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AF7-7D60-D2F9-E52D-07974BC11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E3AA6-7C37-71AF-9F71-69AEF221ABAC}"/>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Why Do We Need Recommender Systems?</a:t>
            </a:r>
            <a:endParaRPr lang="en-GB"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094EFA-6233-EC51-8D20-6A4B8F6A3794}"/>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07809ACF-D053-EC88-384F-45CD2603A7B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Rectangle 2">
            <a:extLst>
              <a:ext uri="{FF2B5EF4-FFF2-40B4-BE49-F238E27FC236}">
                <a16:creationId xmlns:a16="http://schemas.microsoft.com/office/drawing/2014/main" id="{723E9FB3-6FD2-C114-6C92-78DA0494E84D}"/>
              </a:ext>
            </a:extLst>
          </p:cNvPr>
          <p:cNvSpPr>
            <a:spLocks noChangeArrowheads="1"/>
          </p:cNvSpPr>
          <p:nvPr/>
        </p:nvSpPr>
        <p:spPr bwMode="auto">
          <a:xfrm rot="10800000" flipV="1">
            <a:off x="468084" y="1249060"/>
            <a:ext cx="8262258" cy="4439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Information Overload:</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internet has a massive amount of content (like a giant library).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Difficulty Finding Items: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It's nearly impossible for users to manually find what they like among so many choices.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Frustration: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 much content without guidance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leads to users feeling overwhelmed and potentially leaving the platform.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Recommender systems act as guides (like a personal assistant) to filter irrelevant information and highlight interesting items based on user tastes. </a:t>
            </a:r>
          </a:p>
        </p:txBody>
      </p:sp>
    </p:spTree>
    <p:extLst>
      <p:ext uri="{BB962C8B-B14F-4D97-AF65-F5344CB8AC3E}">
        <p14:creationId xmlns:p14="http://schemas.microsoft.com/office/powerpoint/2010/main" val="1858083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CC9D6-CAE1-5317-9296-96ADF80369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AF757-3962-19F7-5179-C42CF3167C04}"/>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Why Do We Need Recommender Systems?</a:t>
            </a:r>
            <a:endParaRPr lang="en-GB"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8B00CAA-CF13-DBA5-87C3-CC158B723E13}"/>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7" name="AutoShape 6" descr="A surreal, dreamlike landscape representing the concept of imagination with an added element of blockchain technology. The scene features an open, vast sky with swirling clouds forming abstract shapes and vivid colors. In the foreground, a figure stands, gazing at a glowing portal or a floating object symbolizing the boundary between reality and fantasy. Intertwined with the fantastical elements like floating islands and vibrant flora, are digital blockchain symbols, glowing nodes, and interconnected lines, representing a futuristic network. The atmosphere remains whimsical yet tech-inspired, blending imagination with the digital age.">
            <a:extLst>
              <a:ext uri="{FF2B5EF4-FFF2-40B4-BE49-F238E27FC236}">
                <a16:creationId xmlns:a16="http://schemas.microsoft.com/office/drawing/2014/main" id="{784B9E0B-45FA-FC4F-67F3-834E5BB346F1}"/>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 name="Picture 4" descr="A group of people standing in front of a building full of books&#10;&#10;AI-generated content may be incorrect.">
            <a:extLst>
              <a:ext uri="{FF2B5EF4-FFF2-40B4-BE49-F238E27FC236}">
                <a16:creationId xmlns:a16="http://schemas.microsoft.com/office/drawing/2014/main" id="{31C2433A-C828-8053-7791-3949538AA06C}"/>
              </a:ext>
            </a:extLst>
          </p:cNvPr>
          <p:cNvPicPr>
            <a:picLocks noChangeAspect="1"/>
          </p:cNvPicPr>
          <p:nvPr/>
        </p:nvPicPr>
        <p:blipFill>
          <a:blip r:embed="rId2"/>
          <a:stretch>
            <a:fillRect/>
          </a:stretch>
        </p:blipFill>
        <p:spPr>
          <a:xfrm>
            <a:off x="1143000" y="1393370"/>
            <a:ext cx="7119257" cy="4604657"/>
          </a:xfrm>
          <a:prstGeom prst="rect">
            <a:avLst/>
          </a:prstGeom>
        </p:spPr>
      </p:pic>
    </p:spTree>
    <p:extLst>
      <p:ext uri="{BB962C8B-B14F-4D97-AF65-F5344CB8AC3E}">
        <p14:creationId xmlns:p14="http://schemas.microsoft.com/office/powerpoint/2010/main" val="1437612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D6A66-BCC6-89B1-B082-81D1E658A5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F3B7C-7B6A-CB98-FD0E-A74BC065226A}"/>
              </a:ext>
            </a:extLst>
          </p:cNvPr>
          <p:cNvSpPr>
            <a:spLocks noGrp="1"/>
          </p:cNvSpPr>
          <p:nvPr>
            <p:ph type="title"/>
          </p:nvPr>
        </p:nvSpPr>
        <p:spPr/>
        <p:txBody>
          <a:bodyPr>
            <a:normAutofit fontScale="90000"/>
          </a:bodyPr>
          <a:lstStyle/>
          <a:p>
            <a:r>
              <a:rPr lang="en-US" dirty="0"/>
              <a:t>How Do They Work? Filtering Techniques</a:t>
            </a:r>
            <a:endParaRPr lang="en-GB"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7B307E0-5EBA-29E8-B356-2E0A728E6747}"/>
              </a:ext>
            </a:extLst>
          </p:cNvPr>
          <p:cNvSpPr>
            <a:spLocks noGrp="1"/>
          </p:cNvSpPr>
          <p:nvPr>
            <p:ph type="sldNum" sz="quarter" idx="12"/>
          </p:nvPr>
        </p:nvSpPr>
        <p:spPr/>
        <p:txBody>
          <a:bodyPr/>
          <a:lstStyle/>
          <a:p>
            <a:fld id="{C1FF6DA9-008F-8B48-92A6-B652298478BF}" type="slidenum">
              <a:rPr lang="en-US" smtClean="0"/>
              <a:t>10</a:t>
            </a:fld>
            <a:endParaRPr lang="en-US"/>
          </a:p>
        </p:txBody>
      </p:sp>
      <p:sp>
        <p:nvSpPr>
          <p:cNvPr id="11" name="Rectangle 2">
            <a:extLst>
              <a:ext uri="{FF2B5EF4-FFF2-40B4-BE49-F238E27FC236}">
                <a16:creationId xmlns:a16="http://schemas.microsoft.com/office/drawing/2014/main" id="{CCD3834A-3B83-6163-6E90-D74396AA8BEA}"/>
              </a:ext>
            </a:extLst>
          </p:cNvPr>
          <p:cNvSpPr>
            <a:spLocks noChangeArrowheads="1"/>
          </p:cNvSpPr>
          <p:nvPr/>
        </p:nvSpPr>
        <p:spPr bwMode="auto">
          <a:xfrm>
            <a:off x="527957" y="1479925"/>
            <a:ext cx="8324494" cy="3673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Recommender systems use different strategies, called filtering techniques, to analyze data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figure out what you might like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These techniques look at different kinds of information to make their predictions. The choice of technique depends on the available data and the specific problem.</a:t>
            </a:r>
          </a:p>
        </p:txBody>
      </p:sp>
    </p:spTree>
    <p:extLst>
      <p:ext uri="{BB962C8B-B14F-4D97-AF65-F5344CB8AC3E}">
        <p14:creationId xmlns:p14="http://schemas.microsoft.com/office/powerpoint/2010/main" val="1087833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61C37-9FB0-8F5A-95D5-9EAAB7FBF8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CFE8C-E23C-3B33-9C2C-9AEFF96DF313}"/>
              </a:ext>
            </a:extLst>
          </p:cNvPr>
          <p:cNvSpPr>
            <a:spLocks noGrp="1"/>
          </p:cNvSpPr>
          <p:nvPr>
            <p:ph type="title"/>
          </p:nvPr>
        </p:nvSpPr>
        <p:spPr/>
        <p:txBody>
          <a:bodyPr>
            <a:normAutofit fontScale="90000"/>
          </a:bodyPr>
          <a:lstStyle/>
          <a:p>
            <a:r>
              <a:rPr lang="en-US" dirty="0"/>
              <a:t>Types of filters </a:t>
            </a:r>
            <a:endParaRPr lang="en-GB"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B409CBE-7878-BBA8-16CD-AEA670E78EB0}"/>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3" name="Rectangle 1">
            <a:extLst>
              <a:ext uri="{FF2B5EF4-FFF2-40B4-BE49-F238E27FC236}">
                <a16:creationId xmlns:a16="http://schemas.microsoft.com/office/drawing/2014/main" id="{F816E533-A34C-9205-C1BD-B2AAE795700A}"/>
              </a:ext>
            </a:extLst>
          </p:cNvPr>
          <p:cNvSpPr>
            <a:spLocks noChangeArrowheads="1"/>
          </p:cNvSpPr>
          <p:nvPr/>
        </p:nvSpPr>
        <p:spPr bwMode="auto">
          <a:xfrm>
            <a:off x="449814" y="1907933"/>
            <a:ext cx="824437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Content-Based Filtering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lang="en-US" altLang="en-US" sz="3200" dirty="0">
                <a:latin typeface="Times New Roman" panose="02020603050405020304" pitchFamily="18" charset="0"/>
                <a:cs typeface="Times New Roman" panose="02020603050405020304" pitchFamily="18" charset="0"/>
              </a:rPr>
              <a:t>suggests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items similar to what a user liked before.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Collaborative Filtering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recommends based on similar users/items.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Hybrid Filtering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combines content-based + collaborative.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Demographic Filtering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uses user profile info (age, gender,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Context-Aware Filtering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considers situation (time, location, mood).</a:t>
            </a:r>
          </a:p>
        </p:txBody>
      </p:sp>
    </p:spTree>
    <p:extLst>
      <p:ext uri="{BB962C8B-B14F-4D97-AF65-F5344CB8AC3E}">
        <p14:creationId xmlns:p14="http://schemas.microsoft.com/office/powerpoint/2010/main" val="1213254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A461A-CC41-58D7-B28F-CB33D7BE6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F8B7F0-A16C-2C12-81F2-C3DFD627A100}"/>
              </a:ext>
            </a:extLst>
          </p:cNvPr>
          <p:cNvSpPr>
            <a:spLocks noGrp="1"/>
          </p:cNvSpPr>
          <p:nvPr>
            <p:ph type="title"/>
          </p:nvPr>
        </p:nvSpPr>
        <p:spPr>
          <a:xfrm>
            <a:off x="477465" y="732693"/>
            <a:ext cx="7989752" cy="513252"/>
          </a:xfrm>
        </p:spPr>
        <p:txBody>
          <a:bodyPr>
            <a:noAutofit/>
          </a:bodyPr>
          <a:lstStyle/>
          <a:p>
            <a:r>
              <a:rPr lang="en-US" b="1" dirty="0">
                <a:latin typeface="Times New Roman" panose="02020603050405020304" pitchFamily="18" charset="0"/>
                <a:cs typeface="Times New Roman" panose="02020603050405020304" pitchFamily="18" charset="0"/>
              </a:rPr>
              <a:t>Collaborative Filtering</a:t>
            </a:r>
            <a:endParaRPr lang="en-GB"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47E8F17-C4D8-ECC8-4F63-448D1BC49F4D}"/>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8" name="Rectangle 1">
            <a:extLst>
              <a:ext uri="{FF2B5EF4-FFF2-40B4-BE49-F238E27FC236}">
                <a16:creationId xmlns:a16="http://schemas.microsoft.com/office/drawing/2014/main" id="{023DD169-E613-D092-AE5D-0BB0BE2E2D7B}"/>
              </a:ext>
            </a:extLst>
          </p:cNvPr>
          <p:cNvSpPr>
            <a:spLocks noChangeArrowheads="1"/>
          </p:cNvSpPr>
          <p:nvPr/>
        </p:nvSpPr>
        <p:spPr bwMode="auto">
          <a:xfrm>
            <a:off x="411969" y="1479036"/>
            <a:ext cx="812074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4000" b="1" dirty="0">
                <a:latin typeface="Times New Roman" panose="02020603050405020304" pitchFamily="18" charset="0"/>
                <a:ea typeface="Tahoma" panose="020B0604030504040204" pitchFamily="34" charset="0"/>
                <a:cs typeface="Times New Roman" panose="02020603050405020304" pitchFamily="18" charset="0"/>
              </a:rPr>
              <a:t>"People like you enjoy"</a:t>
            </a:r>
            <a:endParaRPr lang="en-US" sz="4000" dirty="0">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4000" dirty="0">
                <a:latin typeface="Times New Roman" panose="02020603050405020304" pitchFamily="18" charset="0"/>
                <a:ea typeface="Tahoma" panose="020B0604030504040204" pitchFamily="34" charset="0"/>
                <a:cs typeface="Times New Roman" panose="02020603050405020304" pitchFamily="18" charset="0"/>
              </a:rPr>
              <a:t>Finds users with similar tastes and recommends what they liked.</a:t>
            </a:r>
          </a:p>
          <a:p>
            <a:pPr algn="just"/>
            <a:endParaRPr lang="en-US" sz="4000" dirty="0">
              <a:latin typeface="Times New Roman" panose="02020603050405020304" pitchFamily="18" charset="0"/>
              <a:ea typeface="Tahoma" panose="020B0604030504040204" pitchFamily="34" charset="0"/>
              <a:cs typeface="Times New Roman" panose="02020603050405020304" pitchFamily="18" charset="0"/>
            </a:endParaRPr>
          </a:p>
          <a:p>
            <a:pPr algn="just"/>
            <a:r>
              <a:rPr lang="en-US" sz="4000" i="1" dirty="0">
                <a:latin typeface="Times New Roman" panose="02020603050405020304" pitchFamily="18" charset="0"/>
                <a:ea typeface="Tahoma" panose="020B0604030504040204" pitchFamily="34" charset="0"/>
                <a:cs typeface="Times New Roman" panose="02020603050405020304" pitchFamily="18" charset="0"/>
              </a:rPr>
              <a:t>Example:</a:t>
            </a:r>
            <a:r>
              <a:rPr lang="en-US" sz="4000" dirty="0">
                <a:latin typeface="Times New Roman" panose="02020603050405020304" pitchFamily="18" charset="0"/>
                <a:ea typeface="Tahoma" panose="020B0604030504040204" pitchFamily="34" charset="0"/>
                <a:cs typeface="Times New Roman" panose="02020603050405020304" pitchFamily="18" charset="0"/>
              </a:rPr>
              <a:t> You and Sarah liked the same </a:t>
            </a:r>
            <a:r>
              <a:rPr lang="en-US" sz="4000" b="1" dirty="0">
                <a:latin typeface="Times New Roman" panose="02020603050405020304" pitchFamily="18" charset="0"/>
                <a:ea typeface="Tahoma" panose="020B0604030504040204" pitchFamily="34" charset="0"/>
                <a:cs typeface="Times New Roman" panose="02020603050405020304" pitchFamily="18" charset="0"/>
              </a:rPr>
              <a:t>10 movies</a:t>
            </a:r>
            <a:r>
              <a:rPr lang="en-US" sz="4000" dirty="0">
                <a:latin typeface="Times New Roman" panose="02020603050405020304" pitchFamily="18" charset="0"/>
                <a:ea typeface="Tahoma" panose="020B0604030504040204" pitchFamily="34" charset="0"/>
                <a:cs typeface="Times New Roman" panose="02020603050405020304" pitchFamily="18" charset="0"/>
              </a:rPr>
              <a:t>, so you get Sarah's other favorites.</a:t>
            </a:r>
          </a:p>
        </p:txBody>
      </p:sp>
    </p:spTree>
    <p:extLst>
      <p:ext uri="{BB962C8B-B14F-4D97-AF65-F5344CB8AC3E}">
        <p14:creationId xmlns:p14="http://schemas.microsoft.com/office/powerpoint/2010/main" val="104262298"/>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FE49B-28E6-15C3-6F20-15DBAF167C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023DE-48AD-30CD-E0EF-E0957F72C7F5}"/>
              </a:ext>
            </a:extLst>
          </p:cNvPr>
          <p:cNvSpPr>
            <a:spLocks noGrp="1"/>
          </p:cNvSpPr>
          <p:nvPr>
            <p:ph type="title"/>
          </p:nvPr>
        </p:nvSpPr>
        <p:spPr/>
        <p:txBody>
          <a:bodyPr>
            <a:noAutofit/>
          </a:bodyPr>
          <a:lstStyle/>
          <a:p>
            <a:r>
              <a:rPr lang="en-US" sz="2000" b="1" dirty="0">
                <a:latin typeface="Times New Roman" panose="02020603050405020304" pitchFamily="18" charset="0"/>
                <a:cs typeface="Times New Roman" panose="02020603050405020304" pitchFamily="18" charset="0"/>
              </a:rPr>
              <a:t>Collaborative Filtering</a:t>
            </a:r>
            <a:endParaRPr lang="en-GB"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FBC80D4-32D4-D684-A828-C9EA0987509C}"/>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5" name="TextBox 4">
            <a:extLst>
              <a:ext uri="{FF2B5EF4-FFF2-40B4-BE49-F238E27FC236}">
                <a16:creationId xmlns:a16="http://schemas.microsoft.com/office/drawing/2014/main" id="{0A098245-A98A-4E62-0AAF-D1E869B4F9DA}"/>
              </a:ext>
            </a:extLst>
          </p:cNvPr>
          <p:cNvSpPr txBox="1"/>
          <p:nvPr/>
        </p:nvSpPr>
        <p:spPr>
          <a:xfrm>
            <a:off x="500448" y="1653647"/>
            <a:ext cx="8070496" cy="3916457"/>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works: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AutoNum type="arabicPeriod"/>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Gather Data:</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Collect data on user-item interactions. This is often represented in a user-item matrix where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rows are users, columns are items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values represent interactions (e.g.,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ratings, watch time, purchase history</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ar-SA"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30021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5E164-55BA-9D91-D5C8-DE31315F8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62C82-63DD-4B9E-191B-BA78C88DD9F5}"/>
              </a:ext>
            </a:extLst>
          </p:cNvPr>
          <p:cNvSpPr>
            <a:spLocks noGrp="1"/>
          </p:cNvSpPr>
          <p:nvPr>
            <p:ph type="title"/>
          </p:nvPr>
        </p:nvSpPr>
        <p:spPr/>
        <p:txBody>
          <a:bodyPr>
            <a:noAutofit/>
          </a:bodyPr>
          <a:lstStyle/>
          <a:p>
            <a:r>
              <a:rPr lang="en-US" sz="2000" b="1" dirty="0">
                <a:latin typeface="Times New Roman" panose="02020603050405020304" pitchFamily="18" charset="0"/>
                <a:cs typeface="Times New Roman" panose="02020603050405020304" pitchFamily="18" charset="0"/>
              </a:rPr>
              <a:t>Collaborative Filtering</a:t>
            </a:r>
            <a:endParaRPr lang="en-GB"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3D64875-25E9-2C15-FA2B-121DB34C8AC9}"/>
              </a:ext>
            </a:extLst>
          </p:cNvPr>
          <p:cNvSpPr>
            <a:spLocks noGrp="1"/>
          </p:cNvSpPr>
          <p:nvPr>
            <p:ph type="sldNum" sz="quarter" idx="12"/>
          </p:nvPr>
        </p:nvSpPr>
        <p:spPr/>
        <p:txBody>
          <a:bodyPr/>
          <a:lstStyle/>
          <a:p>
            <a:fld id="{C1FF6DA9-008F-8B48-92A6-B652298478BF}" type="slidenum">
              <a:rPr lang="en-US" smtClean="0"/>
              <a:t>14</a:t>
            </a:fld>
            <a:endParaRPr lang="en-US"/>
          </a:p>
        </p:txBody>
      </p:sp>
      <p:graphicFrame>
        <p:nvGraphicFramePr>
          <p:cNvPr id="3" name="Table 2">
            <a:extLst>
              <a:ext uri="{FF2B5EF4-FFF2-40B4-BE49-F238E27FC236}">
                <a16:creationId xmlns:a16="http://schemas.microsoft.com/office/drawing/2014/main" id="{27083F22-1AF4-7BA1-4E68-D383B37C7C90}"/>
              </a:ext>
            </a:extLst>
          </p:cNvPr>
          <p:cNvGraphicFramePr>
            <a:graphicFrameLocks noGrp="1"/>
          </p:cNvGraphicFramePr>
          <p:nvPr>
            <p:extLst>
              <p:ext uri="{D42A27DB-BD31-4B8C-83A1-F6EECF244321}">
                <p14:modId xmlns:p14="http://schemas.microsoft.com/office/powerpoint/2010/main" val="1907750264"/>
              </p:ext>
            </p:extLst>
          </p:nvPr>
        </p:nvGraphicFramePr>
        <p:xfrm>
          <a:off x="424655" y="1965959"/>
          <a:ext cx="8146290" cy="2965268"/>
        </p:xfrm>
        <a:graphic>
          <a:graphicData uri="http://schemas.openxmlformats.org/drawingml/2006/table">
            <a:tbl>
              <a:tblPr>
                <a:tableStyleId>{1FECB4D8-DB02-4DC6-A0A2-4F2EBAE1DC90}</a:tableStyleId>
              </a:tblPr>
              <a:tblGrid>
                <a:gridCol w="1629258">
                  <a:extLst>
                    <a:ext uri="{9D8B030D-6E8A-4147-A177-3AD203B41FA5}">
                      <a16:colId xmlns:a16="http://schemas.microsoft.com/office/drawing/2014/main" val="1178877900"/>
                    </a:ext>
                  </a:extLst>
                </a:gridCol>
                <a:gridCol w="1629258">
                  <a:extLst>
                    <a:ext uri="{9D8B030D-6E8A-4147-A177-3AD203B41FA5}">
                      <a16:colId xmlns:a16="http://schemas.microsoft.com/office/drawing/2014/main" val="3357215452"/>
                    </a:ext>
                  </a:extLst>
                </a:gridCol>
                <a:gridCol w="1629258">
                  <a:extLst>
                    <a:ext uri="{9D8B030D-6E8A-4147-A177-3AD203B41FA5}">
                      <a16:colId xmlns:a16="http://schemas.microsoft.com/office/drawing/2014/main" val="3681519654"/>
                    </a:ext>
                  </a:extLst>
                </a:gridCol>
                <a:gridCol w="1629258">
                  <a:extLst>
                    <a:ext uri="{9D8B030D-6E8A-4147-A177-3AD203B41FA5}">
                      <a16:colId xmlns:a16="http://schemas.microsoft.com/office/drawing/2014/main" val="308365198"/>
                    </a:ext>
                  </a:extLst>
                </a:gridCol>
                <a:gridCol w="1629258">
                  <a:extLst>
                    <a:ext uri="{9D8B030D-6E8A-4147-A177-3AD203B41FA5}">
                      <a16:colId xmlns:a16="http://schemas.microsoft.com/office/drawing/2014/main" val="836921630"/>
                    </a:ext>
                  </a:extLst>
                </a:gridCol>
              </a:tblGrid>
              <a:tr h="741317">
                <a:tc>
                  <a:txBody>
                    <a:bodyPr/>
                    <a:lstStyle/>
                    <a:p>
                      <a:pPr>
                        <a:buNone/>
                      </a:pPr>
                      <a:r>
                        <a:rPr lang="en-MY" sz="1800"/>
                        <a:t>User \ Item</a:t>
                      </a:r>
                    </a:p>
                  </a:txBody>
                  <a:tcPr anchor="ctr"/>
                </a:tc>
                <a:tc>
                  <a:txBody>
                    <a:bodyPr/>
                    <a:lstStyle/>
                    <a:p>
                      <a:pPr>
                        <a:buNone/>
                      </a:pPr>
                      <a:r>
                        <a:rPr lang="en-MY" sz="1800"/>
                        <a:t>Movie A</a:t>
                      </a:r>
                    </a:p>
                  </a:txBody>
                  <a:tcPr anchor="ctr"/>
                </a:tc>
                <a:tc>
                  <a:txBody>
                    <a:bodyPr/>
                    <a:lstStyle/>
                    <a:p>
                      <a:pPr>
                        <a:buNone/>
                      </a:pPr>
                      <a:r>
                        <a:rPr lang="en-MY" sz="1800"/>
                        <a:t>Movie B</a:t>
                      </a:r>
                    </a:p>
                  </a:txBody>
                  <a:tcPr anchor="ctr"/>
                </a:tc>
                <a:tc>
                  <a:txBody>
                    <a:bodyPr/>
                    <a:lstStyle/>
                    <a:p>
                      <a:pPr>
                        <a:buNone/>
                      </a:pPr>
                      <a:r>
                        <a:rPr lang="en-MY" sz="1800"/>
                        <a:t>Movie C</a:t>
                      </a:r>
                    </a:p>
                  </a:txBody>
                  <a:tcPr anchor="ctr"/>
                </a:tc>
                <a:tc>
                  <a:txBody>
                    <a:bodyPr/>
                    <a:lstStyle/>
                    <a:p>
                      <a:pPr>
                        <a:buNone/>
                      </a:pPr>
                      <a:r>
                        <a:rPr lang="en-MY" sz="1800"/>
                        <a:t>Movie D</a:t>
                      </a:r>
                    </a:p>
                  </a:txBody>
                  <a:tcPr anchor="ctr"/>
                </a:tc>
                <a:extLst>
                  <a:ext uri="{0D108BD9-81ED-4DB2-BD59-A6C34878D82A}">
                    <a16:rowId xmlns:a16="http://schemas.microsoft.com/office/drawing/2014/main" val="695075863"/>
                  </a:ext>
                </a:extLst>
              </a:tr>
              <a:tr h="741317">
                <a:tc>
                  <a:txBody>
                    <a:bodyPr/>
                    <a:lstStyle/>
                    <a:p>
                      <a:pPr>
                        <a:buNone/>
                      </a:pPr>
                      <a:r>
                        <a:rPr lang="en-MY" sz="1800"/>
                        <a:t>User 1</a:t>
                      </a:r>
                    </a:p>
                  </a:txBody>
                  <a:tcPr anchor="ctr"/>
                </a:tc>
                <a:tc>
                  <a:txBody>
                    <a:bodyPr/>
                    <a:lstStyle/>
                    <a:p>
                      <a:pPr>
                        <a:buNone/>
                      </a:pPr>
                      <a:r>
                        <a:rPr lang="en-MY" sz="1800"/>
                        <a:t>5</a:t>
                      </a:r>
                    </a:p>
                  </a:txBody>
                  <a:tcPr anchor="ctr"/>
                </a:tc>
                <a:tc>
                  <a:txBody>
                    <a:bodyPr/>
                    <a:lstStyle/>
                    <a:p>
                      <a:pPr>
                        <a:buNone/>
                      </a:pPr>
                      <a:r>
                        <a:rPr lang="en-MY" sz="1800"/>
                        <a:t>3</a:t>
                      </a:r>
                    </a:p>
                  </a:txBody>
                  <a:tcPr anchor="ctr"/>
                </a:tc>
                <a:tc>
                  <a:txBody>
                    <a:bodyPr/>
                    <a:lstStyle/>
                    <a:p>
                      <a:pPr>
                        <a:buNone/>
                      </a:pPr>
                      <a:r>
                        <a:rPr lang="en-MY" sz="1800"/>
                        <a:t>0</a:t>
                      </a:r>
                    </a:p>
                  </a:txBody>
                  <a:tcPr anchor="ctr"/>
                </a:tc>
                <a:tc>
                  <a:txBody>
                    <a:bodyPr/>
                    <a:lstStyle/>
                    <a:p>
                      <a:pPr>
                        <a:buNone/>
                      </a:pPr>
                      <a:r>
                        <a:rPr lang="en-MY" sz="1800" dirty="0"/>
                        <a:t>1</a:t>
                      </a:r>
                    </a:p>
                  </a:txBody>
                  <a:tcPr anchor="ctr"/>
                </a:tc>
                <a:extLst>
                  <a:ext uri="{0D108BD9-81ED-4DB2-BD59-A6C34878D82A}">
                    <a16:rowId xmlns:a16="http://schemas.microsoft.com/office/drawing/2014/main" val="4048329145"/>
                  </a:ext>
                </a:extLst>
              </a:tr>
              <a:tr h="741317">
                <a:tc>
                  <a:txBody>
                    <a:bodyPr/>
                    <a:lstStyle/>
                    <a:p>
                      <a:pPr>
                        <a:buNone/>
                      </a:pPr>
                      <a:r>
                        <a:rPr lang="en-MY" sz="1800"/>
                        <a:t>User 2</a:t>
                      </a:r>
                    </a:p>
                  </a:txBody>
                  <a:tcPr anchor="ctr"/>
                </a:tc>
                <a:tc>
                  <a:txBody>
                    <a:bodyPr/>
                    <a:lstStyle/>
                    <a:p>
                      <a:pPr>
                        <a:buNone/>
                      </a:pPr>
                      <a:r>
                        <a:rPr lang="en-MY" sz="1800"/>
                        <a:t>4</a:t>
                      </a:r>
                    </a:p>
                  </a:txBody>
                  <a:tcPr anchor="ctr"/>
                </a:tc>
                <a:tc>
                  <a:txBody>
                    <a:bodyPr/>
                    <a:lstStyle/>
                    <a:p>
                      <a:pPr>
                        <a:buNone/>
                      </a:pPr>
                      <a:r>
                        <a:rPr lang="en-MY" sz="1800"/>
                        <a:t>0</a:t>
                      </a:r>
                    </a:p>
                  </a:txBody>
                  <a:tcPr anchor="ctr"/>
                </a:tc>
                <a:tc>
                  <a:txBody>
                    <a:bodyPr/>
                    <a:lstStyle/>
                    <a:p>
                      <a:pPr>
                        <a:buNone/>
                      </a:pPr>
                      <a:r>
                        <a:rPr lang="en-MY" sz="1800"/>
                        <a:t>2</a:t>
                      </a:r>
                    </a:p>
                  </a:txBody>
                  <a:tcPr anchor="ctr"/>
                </a:tc>
                <a:tc>
                  <a:txBody>
                    <a:bodyPr/>
                    <a:lstStyle/>
                    <a:p>
                      <a:pPr>
                        <a:buNone/>
                      </a:pPr>
                      <a:r>
                        <a:rPr lang="en-MY" sz="1800"/>
                        <a:t>0</a:t>
                      </a:r>
                    </a:p>
                  </a:txBody>
                  <a:tcPr anchor="ctr"/>
                </a:tc>
                <a:extLst>
                  <a:ext uri="{0D108BD9-81ED-4DB2-BD59-A6C34878D82A}">
                    <a16:rowId xmlns:a16="http://schemas.microsoft.com/office/drawing/2014/main" val="2857977845"/>
                  </a:ext>
                </a:extLst>
              </a:tr>
              <a:tr h="741317">
                <a:tc>
                  <a:txBody>
                    <a:bodyPr/>
                    <a:lstStyle/>
                    <a:p>
                      <a:pPr>
                        <a:buNone/>
                      </a:pPr>
                      <a:r>
                        <a:rPr lang="en-MY" sz="1800"/>
                        <a:t>User 3</a:t>
                      </a:r>
                    </a:p>
                  </a:txBody>
                  <a:tcPr anchor="ctr"/>
                </a:tc>
                <a:tc>
                  <a:txBody>
                    <a:bodyPr/>
                    <a:lstStyle/>
                    <a:p>
                      <a:pPr>
                        <a:buNone/>
                      </a:pPr>
                      <a:r>
                        <a:rPr lang="en-MY" sz="1800"/>
                        <a:t>0</a:t>
                      </a:r>
                    </a:p>
                  </a:txBody>
                  <a:tcPr anchor="ctr"/>
                </a:tc>
                <a:tc>
                  <a:txBody>
                    <a:bodyPr/>
                    <a:lstStyle/>
                    <a:p>
                      <a:pPr>
                        <a:buNone/>
                      </a:pPr>
                      <a:r>
                        <a:rPr lang="en-MY" sz="1800"/>
                        <a:t>4</a:t>
                      </a:r>
                    </a:p>
                  </a:txBody>
                  <a:tcPr anchor="ctr"/>
                </a:tc>
                <a:tc>
                  <a:txBody>
                    <a:bodyPr/>
                    <a:lstStyle/>
                    <a:p>
                      <a:pPr>
                        <a:buNone/>
                      </a:pPr>
                      <a:r>
                        <a:rPr lang="en-MY" sz="1800"/>
                        <a:t>5</a:t>
                      </a:r>
                    </a:p>
                  </a:txBody>
                  <a:tcPr anchor="ctr"/>
                </a:tc>
                <a:tc>
                  <a:txBody>
                    <a:bodyPr/>
                    <a:lstStyle/>
                    <a:p>
                      <a:pPr>
                        <a:buNone/>
                      </a:pPr>
                      <a:r>
                        <a:rPr lang="en-MY" sz="1800" dirty="0"/>
                        <a:t>3</a:t>
                      </a:r>
                    </a:p>
                  </a:txBody>
                  <a:tcPr anchor="ctr"/>
                </a:tc>
                <a:extLst>
                  <a:ext uri="{0D108BD9-81ED-4DB2-BD59-A6C34878D82A}">
                    <a16:rowId xmlns:a16="http://schemas.microsoft.com/office/drawing/2014/main" val="811664896"/>
                  </a:ext>
                </a:extLst>
              </a:tr>
            </a:tbl>
          </a:graphicData>
        </a:graphic>
      </p:graphicFrame>
    </p:spTree>
    <p:extLst>
      <p:ext uri="{BB962C8B-B14F-4D97-AF65-F5344CB8AC3E}">
        <p14:creationId xmlns:p14="http://schemas.microsoft.com/office/powerpoint/2010/main" val="455777424"/>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3630D-D8EF-E70D-A731-4B19D51A33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2C7F6-F66A-BFF3-570B-6063B9B9161A}"/>
              </a:ext>
            </a:extLst>
          </p:cNvPr>
          <p:cNvSpPr>
            <a:spLocks noGrp="1"/>
          </p:cNvSpPr>
          <p:nvPr>
            <p:ph type="title"/>
          </p:nvPr>
        </p:nvSpPr>
        <p:spPr/>
        <p:txBody>
          <a:bodyPr>
            <a:noAutofit/>
          </a:bodyPr>
          <a:lstStyle/>
          <a:p>
            <a:r>
              <a:rPr lang="en-US" sz="2000" b="1" dirty="0">
                <a:latin typeface="Times New Roman" panose="02020603050405020304" pitchFamily="18" charset="0"/>
                <a:cs typeface="Times New Roman" panose="02020603050405020304" pitchFamily="18" charset="0"/>
              </a:rPr>
              <a:t>Collaborative Filtering: The "People Like You" Method</a:t>
            </a:r>
            <a:endParaRPr lang="en-GB" sz="2000"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AD40EAF-BC1E-4127-1B93-407A62C2C9DD}"/>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6" name="TextBox 5">
            <a:extLst>
              <a:ext uri="{FF2B5EF4-FFF2-40B4-BE49-F238E27FC236}">
                <a16:creationId xmlns:a16="http://schemas.microsoft.com/office/drawing/2014/main" id="{44BFBB27-B5B7-E072-492D-68FB1ED88FB9}"/>
              </a:ext>
            </a:extLst>
          </p:cNvPr>
          <p:cNvSpPr txBox="1"/>
          <p:nvPr/>
        </p:nvSpPr>
        <p:spPr>
          <a:xfrm>
            <a:off x="685799" y="1579521"/>
            <a:ext cx="7989752" cy="3331938"/>
          </a:xfrm>
          <a:prstGeom prst="rect">
            <a:avLst/>
          </a:prstGeom>
          <a:noFill/>
        </p:spPr>
        <p:txBody>
          <a:bodyPr wrap="square">
            <a:spAutoFit/>
          </a:bodyPr>
          <a:lstStyle/>
          <a:p>
            <a:pPr marL="0" marR="0" lvl="0" indent="0" algn="just" defTabSz="914400" rtl="0" eaLnBrk="0" fontAlgn="base" latinLnBrk="0" hangingPunct="0">
              <a:lnSpc>
                <a:spcPct val="200000"/>
              </a:lnSpc>
              <a:spcBef>
                <a:spcPct val="0"/>
              </a:spcBef>
              <a:spcAft>
                <a:spcPct val="0"/>
              </a:spcAft>
              <a:buClrTx/>
              <a:buSzTx/>
              <a:buFontTx/>
              <a:buAutoNum type="arabicPeriod" startAt="2"/>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Find Similarities: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Calculate similarity between users (user-based) or between items (item-based) based on this interaction data.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Similarity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can be measured using metrics like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cosine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similarity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Pearson correlation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2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Recommendations: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calculated similarities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 how the active user would rate or interact with items they haven't seen and recommend the highest-predicted items.</a:t>
            </a:r>
          </a:p>
        </p:txBody>
      </p:sp>
    </p:spTree>
    <p:extLst>
      <p:ext uri="{BB962C8B-B14F-4D97-AF65-F5344CB8AC3E}">
        <p14:creationId xmlns:p14="http://schemas.microsoft.com/office/powerpoint/2010/main" val="1029896941"/>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F0034-4560-6046-CDD7-6486DD6ABC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5DBE6-4A25-5A16-5DE6-0CC71EA647CE}"/>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C25034D-E51B-2C97-937D-802FC3C24C77}"/>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5" name="TextBox 4">
            <a:extLst>
              <a:ext uri="{FF2B5EF4-FFF2-40B4-BE49-F238E27FC236}">
                <a16:creationId xmlns:a16="http://schemas.microsoft.com/office/drawing/2014/main" id="{29013680-77B9-3A9F-8367-8CF95DA904BF}"/>
              </a:ext>
            </a:extLst>
          </p:cNvPr>
          <p:cNvSpPr txBox="1"/>
          <p:nvPr/>
        </p:nvSpPr>
        <p:spPr>
          <a:xfrm>
            <a:off x="337818" y="1410516"/>
            <a:ext cx="8893267" cy="4197559"/>
          </a:xfrm>
          <a:prstGeom prst="rect">
            <a:avLst/>
          </a:prstGeom>
          <a:noFill/>
        </p:spPr>
        <p:txBody>
          <a:bodyPr wrap="square">
            <a:spAutoFit/>
          </a:bodyPr>
          <a:lstStyle/>
          <a:p>
            <a:pPr>
              <a:lnSpc>
                <a:spcPct val="150000"/>
              </a:lnSpc>
              <a:buFont typeface="Arial" panose="020B0604020202020204" pitchFamily="34" charset="0"/>
              <a:buChar char="•"/>
            </a:pPr>
            <a:r>
              <a:rPr lang="en-US" b="1" dirty="0">
                <a:solidFill>
                  <a:srgbClr val="FF0000"/>
                </a:solidFill>
                <a:latin typeface="Times New Roman" panose="02020603050405020304" pitchFamily="18" charset="0"/>
                <a:cs typeface="Times New Roman" panose="02020603050405020304" pitchFamily="18" charset="0"/>
              </a:rPr>
              <a:t>User-Based Collaborative Filtering:</a:t>
            </a:r>
            <a:endParaRPr lang="en-US" dirty="0">
              <a:solidFill>
                <a:srgbClr val="FF0000"/>
              </a:solidFill>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Focus:</a:t>
            </a:r>
            <a:r>
              <a:rPr lang="en-US" dirty="0">
                <a:latin typeface="Times New Roman" panose="02020603050405020304" pitchFamily="18" charset="0"/>
                <a:cs typeface="Times New Roman" panose="02020603050405020304" pitchFamily="18" charset="0"/>
              </a:rPr>
              <a:t> Finding users similar to </a:t>
            </a:r>
            <a:r>
              <a:rPr lang="en-US" i="1" dirty="0">
                <a:latin typeface="Times New Roman" panose="02020603050405020304" pitchFamily="18" charset="0"/>
                <a:cs typeface="Times New Roman" panose="02020603050405020304" pitchFamily="18" charset="0"/>
              </a:rPr>
              <a:t>you</a:t>
            </a:r>
            <a:r>
              <a:rPr lang="en-US" dirty="0">
                <a:latin typeface="Times New Roman" panose="02020603050405020304" pitchFamily="18" charset="0"/>
                <a:cs typeface="Times New Roman" panose="02020603050405020304" pitchFamily="18" charset="0"/>
              </a:rPr>
              <a:t> (the </a:t>
            </a:r>
            <a:r>
              <a:rPr lang="en-US" b="1" dirty="0">
                <a:latin typeface="Times New Roman" panose="02020603050405020304" pitchFamily="18" charset="0"/>
                <a:cs typeface="Times New Roman" panose="02020603050405020304" pitchFamily="18" charset="0"/>
              </a:rPr>
              <a:t>active user</a:t>
            </a:r>
            <a:r>
              <a:rPr lang="en-US" dirty="0">
                <a:latin typeface="Times New Roman" panose="02020603050405020304" pitchFamily="18" charset="0"/>
                <a:cs typeface="Times New Roman" panose="02020603050405020304" pitchFamily="18" charset="0"/>
              </a:rPr>
              <a:t>).</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Process:</a:t>
            </a:r>
            <a:r>
              <a:rPr lang="en-US" dirty="0">
                <a:latin typeface="Times New Roman" panose="02020603050405020304" pitchFamily="18" charset="0"/>
                <a:cs typeface="Times New Roman" panose="02020603050405020304" pitchFamily="18" charset="0"/>
              </a:rPr>
              <a:t> Identify a </a:t>
            </a:r>
            <a:r>
              <a:rPr lang="en-US" b="1" dirty="0">
                <a:latin typeface="Times New Roman" panose="02020603050405020304" pitchFamily="18" charset="0"/>
                <a:cs typeface="Times New Roman" panose="02020603050405020304" pitchFamily="18" charset="0"/>
              </a:rPr>
              <a:t>group of users </a:t>
            </a:r>
            <a:r>
              <a:rPr lang="en-US" dirty="0">
                <a:latin typeface="Times New Roman" panose="02020603050405020304" pitchFamily="18" charset="0"/>
                <a:cs typeface="Times New Roman" panose="02020603050405020304" pitchFamily="18" charset="0"/>
              </a:rPr>
              <a:t>whose interaction history is most similar to yours.</a:t>
            </a:r>
          </a:p>
          <a:p>
            <a:pPr marL="742950" lvl="1" indent="-285750">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Recommendation:</a:t>
            </a:r>
            <a:r>
              <a:rPr lang="en-US" dirty="0">
                <a:latin typeface="Times New Roman" panose="02020603050405020304" pitchFamily="18" charset="0"/>
                <a:cs typeface="Times New Roman" panose="02020603050405020304" pitchFamily="18" charset="0"/>
              </a:rPr>
              <a:t> Recommend items that these "neighbor" users liked but you haven't seen or interacted with yet.</a:t>
            </a:r>
          </a:p>
          <a:p>
            <a:pPr marL="742950" lvl="1" indent="-285750">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"User A and User B both gave high ratings to movies X, Y, and Z. User B also gave a high rating to Movie Q, but User A hasn't seen it. The system recommends Movie Q to User A."</a:t>
            </a:r>
          </a:p>
          <a:p>
            <a:pPr marL="742950" lvl="1" indent="-285750">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Analogy:</a:t>
            </a:r>
            <a:r>
              <a:rPr lang="en-US" dirty="0">
                <a:latin typeface="Times New Roman" panose="02020603050405020304" pitchFamily="18" charset="0"/>
                <a:cs typeface="Times New Roman" panose="02020603050405020304" pitchFamily="18" charset="0"/>
              </a:rPr>
              <a:t> Asking friends with similar music taste for band recommendations – if they all like a new band, you might too.</a:t>
            </a:r>
          </a:p>
        </p:txBody>
      </p:sp>
    </p:spTree>
    <p:extLst>
      <p:ext uri="{BB962C8B-B14F-4D97-AF65-F5344CB8AC3E}">
        <p14:creationId xmlns:p14="http://schemas.microsoft.com/office/powerpoint/2010/main" val="655759718"/>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BBF24-F402-FB4D-84BD-E74907682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7F3ADC-948B-9BE8-9020-5ED397E4F243}"/>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63CD245-8CB5-683F-7B4A-77BCD8E9209C}"/>
              </a:ext>
            </a:extLst>
          </p:cNvPr>
          <p:cNvSpPr>
            <a:spLocks noGrp="1"/>
          </p:cNvSpPr>
          <p:nvPr>
            <p:ph type="sldNum" sz="quarter" idx="12"/>
          </p:nvPr>
        </p:nvSpPr>
        <p:spPr/>
        <p:txBody>
          <a:bodyPr/>
          <a:lstStyle/>
          <a:p>
            <a:fld id="{C1FF6DA9-008F-8B48-92A6-B652298478BF}" type="slidenum">
              <a:rPr lang="en-US" smtClean="0"/>
              <a:t>17</a:t>
            </a:fld>
            <a:endParaRPr lang="en-US"/>
          </a:p>
        </p:txBody>
      </p:sp>
      <p:pic>
        <p:nvPicPr>
          <p:cNvPr id="3" name="Picture 2" descr="Collaborative Filtering In ML Made Simple [6 Different Approaches]">
            <a:extLst>
              <a:ext uri="{FF2B5EF4-FFF2-40B4-BE49-F238E27FC236}">
                <a16:creationId xmlns:a16="http://schemas.microsoft.com/office/drawing/2014/main" id="{0CBA241E-157A-4068-2888-86A85EE808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782" y="1393371"/>
            <a:ext cx="7978018" cy="4487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6246351"/>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DF577-1927-444C-956C-04917B7F1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85830-2129-1434-5D5A-47994325DF3C}"/>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CF7D072-7D77-91C6-887A-96D6EC0BC2B3}"/>
              </a:ext>
            </a:extLst>
          </p:cNvPr>
          <p:cNvSpPr>
            <a:spLocks noGrp="1"/>
          </p:cNvSpPr>
          <p:nvPr>
            <p:ph type="sldNum" sz="quarter" idx="12"/>
          </p:nvPr>
        </p:nvSpPr>
        <p:spPr/>
        <p:txBody>
          <a:bodyPr/>
          <a:lstStyle/>
          <a:p>
            <a:fld id="{C1FF6DA9-008F-8B48-92A6-B652298478BF}" type="slidenum">
              <a:rPr lang="en-US" smtClean="0"/>
              <a:t>18</a:t>
            </a:fld>
            <a:endParaRPr lang="en-US"/>
          </a:p>
        </p:txBody>
      </p:sp>
      <p:pic>
        <p:nvPicPr>
          <p:cNvPr id="6" name="Picture 5">
            <a:extLst>
              <a:ext uri="{FF2B5EF4-FFF2-40B4-BE49-F238E27FC236}">
                <a16:creationId xmlns:a16="http://schemas.microsoft.com/office/drawing/2014/main" id="{03C7C3B7-9058-8DDB-C765-DBF9351A1D2F}"/>
              </a:ext>
            </a:extLst>
          </p:cNvPr>
          <p:cNvPicPr>
            <a:picLocks noChangeAspect="1"/>
          </p:cNvPicPr>
          <p:nvPr/>
        </p:nvPicPr>
        <p:blipFill>
          <a:blip r:embed="rId2"/>
          <a:stretch>
            <a:fillRect/>
          </a:stretch>
        </p:blipFill>
        <p:spPr>
          <a:xfrm>
            <a:off x="18414" y="1971471"/>
            <a:ext cx="9107171" cy="2915057"/>
          </a:xfrm>
          <a:prstGeom prst="rect">
            <a:avLst/>
          </a:prstGeom>
        </p:spPr>
      </p:pic>
      <p:sp>
        <p:nvSpPr>
          <p:cNvPr id="8" name="TextBox 7">
            <a:extLst>
              <a:ext uri="{FF2B5EF4-FFF2-40B4-BE49-F238E27FC236}">
                <a16:creationId xmlns:a16="http://schemas.microsoft.com/office/drawing/2014/main" id="{2A1666DA-D00A-F4C0-F29B-6415BDF213BE}"/>
              </a:ext>
            </a:extLst>
          </p:cNvPr>
          <p:cNvSpPr txBox="1"/>
          <p:nvPr/>
        </p:nvSpPr>
        <p:spPr>
          <a:xfrm>
            <a:off x="581192" y="1513397"/>
            <a:ext cx="4572000" cy="458074"/>
          </a:xfrm>
          <a:prstGeom prst="rect">
            <a:avLst/>
          </a:prstGeom>
          <a:noFill/>
        </p:spPr>
        <p:txBody>
          <a:bodyPr wrap="square">
            <a:spAutoFit/>
          </a:bodyPr>
          <a:lstStyle/>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User-Based Collaborative Filtering: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3706222"/>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68731-2727-6C39-492A-B8AD1F819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C85EA-37E1-FED2-414D-7A09A564F7B7}"/>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AD8EB6D-F66B-8F37-73D5-03EECB80E285}"/>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8" name="TextBox 7">
            <a:extLst>
              <a:ext uri="{FF2B5EF4-FFF2-40B4-BE49-F238E27FC236}">
                <a16:creationId xmlns:a16="http://schemas.microsoft.com/office/drawing/2014/main" id="{F0D505E6-00A8-A8BA-AC66-37BA5F455162}"/>
              </a:ext>
            </a:extLst>
          </p:cNvPr>
          <p:cNvSpPr txBox="1"/>
          <p:nvPr/>
        </p:nvSpPr>
        <p:spPr>
          <a:xfrm>
            <a:off x="581192" y="1513397"/>
            <a:ext cx="4572000" cy="458074"/>
          </a:xfrm>
          <a:prstGeom prst="rect">
            <a:avLst/>
          </a:prstGeom>
          <a:noFill/>
        </p:spPr>
        <p:txBody>
          <a:bodyPr wrap="square">
            <a:spAutoFit/>
          </a:bodyPr>
          <a:lstStyle/>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User-Based Collaborative Filtering:</a:t>
            </a: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3421DDD-9B47-A00C-B358-7979F102F6C0}"/>
              </a:ext>
            </a:extLst>
          </p:cNvPr>
          <p:cNvPicPr>
            <a:picLocks noChangeAspect="1"/>
          </p:cNvPicPr>
          <p:nvPr/>
        </p:nvPicPr>
        <p:blipFill>
          <a:blip r:embed="rId2"/>
          <a:srcRect t="6837"/>
          <a:stretch/>
        </p:blipFill>
        <p:spPr>
          <a:xfrm>
            <a:off x="1488557" y="2072016"/>
            <a:ext cx="6719777" cy="3677791"/>
          </a:xfrm>
          <a:prstGeom prst="rect">
            <a:avLst/>
          </a:prstGeom>
        </p:spPr>
      </p:pic>
    </p:spTree>
    <p:extLst>
      <p:ext uri="{BB962C8B-B14F-4D97-AF65-F5344CB8AC3E}">
        <p14:creationId xmlns:p14="http://schemas.microsoft.com/office/powerpoint/2010/main" val="427729172"/>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A34B6-D25E-023F-273F-62E57DFF4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90385-6100-7316-5868-26D664CD3490}"/>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38F68FC-6F24-8B88-7D40-B4BF4D398948}"/>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8" name="TextBox 7">
            <a:extLst>
              <a:ext uri="{FF2B5EF4-FFF2-40B4-BE49-F238E27FC236}">
                <a16:creationId xmlns:a16="http://schemas.microsoft.com/office/drawing/2014/main" id="{5FC8EE13-1EDE-968F-BBD6-8C44CE404DE9}"/>
              </a:ext>
            </a:extLst>
          </p:cNvPr>
          <p:cNvSpPr txBox="1"/>
          <p:nvPr/>
        </p:nvSpPr>
        <p:spPr>
          <a:xfrm>
            <a:off x="581192" y="1513397"/>
            <a:ext cx="4572000" cy="458074"/>
          </a:xfrm>
          <a:prstGeom prst="rect">
            <a:avLst/>
          </a:prstGeom>
          <a:noFill/>
        </p:spPr>
        <p:txBody>
          <a:bodyPr wrap="square">
            <a:spAutoFit/>
          </a:bodyPr>
          <a:lstStyle/>
          <a:p>
            <a:pPr>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User-Based Collaborative Filtering:</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C5F7A51-50F4-ACB3-F8AC-777FD383045E}"/>
              </a:ext>
            </a:extLst>
          </p:cNvPr>
          <p:cNvPicPr>
            <a:picLocks noChangeAspect="1"/>
          </p:cNvPicPr>
          <p:nvPr/>
        </p:nvPicPr>
        <p:blipFill>
          <a:blip r:embed="rId2"/>
          <a:stretch>
            <a:fillRect/>
          </a:stretch>
        </p:blipFill>
        <p:spPr>
          <a:xfrm>
            <a:off x="487247" y="2064860"/>
            <a:ext cx="7144747" cy="3705742"/>
          </a:xfrm>
          <a:prstGeom prst="rect">
            <a:avLst/>
          </a:prstGeom>
        </p:spPr>
      </p:pic>
    </p:spTree>
    <p:extLst>
      <p:ext uri="{BB962C8B-B14F-4D97-AF65-F5344CB8AC3E}">
        <p14:creationId xmlns:p14="http://schemas.microsoft.com/office/powerpoint/2010/main" val="4042771253"/>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395A9-868F-0844-68F1-A18B6894E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55065-16A2-B4F2-1782-CDA32ADD051F}"/>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 Two Approaches</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0021CB3-7483-BC1E-551B-30BEE6EB7FFD}"/>
              </a:ext>
            </a:extLst>
          </p:cNvPr>
          <p:cNvSpPr>
            <a:spLocks noGrp="1"/>
          </p:cNvSpPr>
          <p:nvPr>
            <p:ph type="sldNum" sz="quarter" idx="12"/>
          </p:nvPr>
        </p:nvSpPr>
        <p:spPr/>
        <p:txBody>
          <a:bodyPr/>
          <a:lstStyle/>
          <a:p>
            <a:fld id="{C1FF6DA9-008F-8B48-92A6-B652298478BF}" type="slidenum">
              <a:rPr lang="en-US" smtClean="0"/>
              <a:t>21</a:t>
            </a:fld>
            <a:endParaRPr lang="en-US"/>
          </a:p>
        </p:txBody>
      </p:sp>
      <p:sp>
        <p:nvSpPr>
          <p:cNvPr id="6" name="TextBox 5">
            <a:extLst>
              <a:ext uri="{FF2B5EF4-FFF2-40B4-BE49-F238E27FC236}">
                <a16:creationId xmlns:a16="http://schemas.microsoft.com/office/drawing/2014/main" id="{15987101-321F-6452-9495-DFAE67499A0B}"/>
              </a:ext>
            </a:extLst>
          </p:cNvPr>
          <p:cNvSpPr txBox="1"/>
          <p:nvPr/>
        </p:nvSpPr>
        <p:spPr>
          <a:xfrm>
            <a:off x="442042" y="1363721"/>
            <a:ext cx="8310071" cy="3903954"/>
          </a:xfrm>
          <a:prstGeom prst="rect">
            <a:avLst/>
          </a:prstGeom>
          <a:noFill/>
        </p:spPr>
        <p:txBody>
          <a:bodyPr wrap="square">
            <a:spAutoFit/>
          </a:bodyPr>
          <a:lstStyle/>
          <a:p>
            <a:pPr algn="just">
              <a:lnSpc>
                <a:spcPct val="150000"/>
              </a:lnSpc>
              <a:buNone/>
            </a:pPr>
            <a:r>
              <a:rPr lang="en-US" sz="2400" b="1" dirty="0">
                <a:solidFill>
                  <a:srgbClr val="FF0000"/>
                </a:solidFill>
                <a:latin typeface="Times New Roman" panose="02020603050405020304" pitchFamily="18" charset="0"/>
                <a:cs typeface="Times New Roman" panose="02020603050405020304" pitchFamily="18" charset="0"/>
              </a:rPr>
              <a:t>Item-Based Collaborative Filtering:</a:t>
            </a:r>
            <a:endParaRPr lang="en-US" sz="2400" dirty="0">
              <a:solidFill>
                <a:srgbClr val="FF0000"/>
              </a:solidFill>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Focus:</a:t>
            </a:r>
            <a:r>
              <a:rPr lang="en-US" sz="2400" dirty="0">
                <a:latin typeface="Times New Roman" panose="02020603050405020304" pitchFamily="18" charset="0"/>
                <a:cs typeface="Times New Roman" panose="02020603050405020304" pitchFamily="18" charset="0"/>
              </a:rPr>
              <a:t> Finding </a:t>
            </a:r>
            <a:r>
              <a:rPr lang="en-US" sz="2400" b="1" dirty="0">
                <a:latin typeface="Times New Roman" panose="02020603050405020304" pitchFamily="18" charset="0"/>
                <a:cs typeface="Times New Roman" panose="02020603050405020304" pitchFamily="18" charset="0"/>
              </a:rPr>
              <a:t>items similar </a:t>
            </a:r>
            <a:r>
              <a:rPr lang="en-US" sz="2400" dirty="0">
                <a:latin typeface="Times New Roman" panose="02020603050405020304" pitchFamily="18" charset="0"/>
                <a:cs typeface="Times New Roman" panose="02020603050405020304" pitchFamily="18" charset="0"/>
              </a:rPr>
              <a:t>to the ones </a:t>
            </a:r>
            <a:r>
              <a:rPr lang="en-US" sz="2400" i="1" dirty="0">
                <a:latin typeface="Times New Roman" panose="02020603050405020304" pitchFamily="18" charset="0"/>
                <a:cs typeface="Times New Roman" panose="02020603050405020304" pitchFamily="18" charset="0"/>
              </a:rPr>
              <a:t>you</a:t>
            </a:r>
            <a:r>
              <a:rPr lang="en-US" sz="2400" dirty="0">
                <a:latin typeface="Times New Roman" panose="02020603050405020304" pitchFamily="18" charset="0"/>
                <a:cs typeface="Times New Roman" panose="02020603050405020304" pitchFamily="18" charset="0"/>
              </a:rPr>
              <a:t> liked.</a:t>
            </a: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Process:</a:t>
            </a:r>
            <a:r>
              <a:rPr lang="en-US" sz="2400" dirty="0">
                <a:latin typeface="Times New Roman" panose="02020603050405020304" pitchFamily="18" charset="0"/>
                <a:cs typeface="Times New Roman" panose="02020603050405020304" pitchFamily="18" charset="0"/>
              </a:rPr>
              <a:t> Identify items that are similar to the items you've liked or interacted with, based on how other users have interacted with </a:t>
            </a:r>
            <a:r>
              <a:rPr lang="en-US" sz="2400" i="1" dirty="0">
                <a:latin typeface="Times New Roman" panose="02020603050405020304" pitchFamily="18" charset="0"/>
                <a:cs typeface="Times New Roman" panose="02020603050405020304" pitchFamily="18" charset="0"/>
              </a:rPr>
              <a:t>both</a:t>
            </a:r>
            <a:r>
              <a:rPr lang="en-US" sz="2400" dirty="0">
                <a:latin typeface="Times New Roman" panose="02020603050405020304" pitchFamily="18" charset="0"/>
                <a:cs typeface="Times New Roman" panose="02020603050405020304" pitchFamily="18" charset="0"/>
              </a:rPr>
              <a:t> items.</a:t>
            </a:r>
          </a:p>
          <a:p>
            <a:pPr algn="just">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Recommendation:</a:t>
            </a:r>
            <a:r>
              <a:rPr lang="en-US" sz="2400" dirty="0">
                <a:latin typeface="Times New Roman" panose="02020603050405020304" pitchFamily="18" charset="0"/>
                <a:cs typeface="Times New Roman" panose="02020603050405020304" pitchFamily="18" charset="0"/>
              </a:rPr>
              <a:t> Recommend these similar items to the active user.</a:t>
            </a:r>
          </a:p>
        </p:txBody>
      </p:sp>
    </p:spTree>
    <p:extLst>
      <p:ext uri="{BB962C8B-B14F-4D97-AF65-F5344CB8AC3E}">
        <p14:creationId xmlns:p14="http://schemas.microsoft.com/office/powerpoint/2010/main" val="182492446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B174F-F785-1BF0-5C08-2415B96ED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110E1-7DC0-0730-19ED-6D7A1BDF84BB}"/>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96D424AC-F02A-0182-9A73-E5A9AB37CFE0}"/>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16386" name="Picture 2" descr="Content-Based Recommendation System ...">
            <a:extLst>
              <a:ext uri="{FF2B5EF4-FFF2-40B4-BE49-F238E27FC236}">
                <a16:creationId xmlns:a16="http://schemas.microsoft.com/office/drawing/2014/main" id="{6100D21E-C85A-C025-4995-E51DBD14F7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7951" y="1414019"/>
            <a:ext cx="6045199" cy="3385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233581"/>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BECEF-9064-9DC6-93D6-747D7F713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A0B3B-7D70-A6CF-A9EC-F6F0B0634126}"/>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 Collaborative Filtering</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E0EA55B-55AB-8D39-094A-3F2BA83E1298}"/>
              </a:ext>
            </a:extLst>
          </p:cNvPr>
          <p:cNvSpPr>
            <a:spLocks noGrp="1"/>
          </p:cNvSpPr>
          <p:nvPr>
            <p:ph type="sldNum" sz="quarter" idx="12"/>
          </p:nvPr>
        </p:nvSpPr>
        <p:spPr/>
        <p:txBody>
          <a:bodyPr/>
          <a:lstStyle/>
          <a:p>
            <a:fld id="{C1FF6DA9-008F-8B48-92A6-B652298478BF}" type="slidenum">
              <a:rPr lang="en-US" smtClean="0"/>
              <a:t>23</a:t>
            </a:fld>
            <a:endParaRPr lang="en-US"/>
          </a:p>
        </p:txBody>
      </p:sp>
      <p:sp>
        <p:nvSpPr>
          <p:cNvPr id="5" name="TextBox 4">
            <a:extLst>
              <a:ext uri="{FF2B5EF4-FFF2-40B4-BE49-F238E27FC236}">
                <a16:creationId xmlns:a16="http://schemas.microsoft.com/office/drawing/2014/main" id="{3A47F1C8-DC20-E33F-8350-4F478A14D047}"/>
              </a:ext>
            </a:extLst>
          </p:cNvPr>
          <p:cNvSpPr txBox="1"/>
          <p:nvPr/>
        </p:nvSpPr>
        <p:spPr>
          <a:xfrm>
            <a:off x="495300" y="1613249"/>
            <a:ext cx="8153400" cy="2535566"/>
          </a:xfrm>
          <a:prstGeom prst="rect">
            <a:avLst/>
          </a:prstGeom>
          <a:noFill/>
        </p:spPr>
        <p:txBody>
          <a:bodyPr wrap="square">
            <a:spAutoFit/>
          </a:bodyPr>
          <a:lstStyle/>
          <a:p>
            <a:pPr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"People who bought 'The Lord of the Rings' book also frequently bought 'The Hobbit'. If User C bought 'The Lord of the Rings' but not 'The Hobbit', the system recommends 'The Hobbit' to User C."</a:t>
            </a:r>
          </a:p>
          <a:p>
            <a:pPr algn="just">
              <a:lnSpc>
                <a:spcPct val="150000"/>
              </a:lnSpc>
              <a:buFont typeface="Arial" panose="020B0604020202020204" pitchFamily="34" charset="0"/>
              <a:buChar char="•"/>
            </a:pPr>
            <a:r>
              <a:rPr lang="en-US" i="1" dirty="0">
                <a:latin typeface="Times New Roman" panose="02020603050405020304" pitchFamily="18" charset="0"/>
                <a:cs typeface="Times New Roman" panose="02020603050405020304" pitchFamily="18" charset="0"/>
              </a:rPr>
              <a:t>Analogy:</a:t>
            </a:r>
            <a:r>
              <a:rPr lang="en-US" dirty="0">
                <a:latin typeface="Times New Roman" panose="02020603050405020304" pitchFamily="18" charset="0"/>
                <a:cs typeface="Times New Roman" panose="02020603050405020304" pitchFamily="18" charset="0"/>
              </a:rPr>
              <a:t> Seeing that people who bought the same type of coffee as you also bought a specific type of tea – the system identifies a relationship between the coffee and the tea based on group purchasing behavior.</a:t>
            </a:r>
          </a:p>
        </p:txBody>
      </p:sp>
    </p:spTree>
    <p:extLst>
      <p:ext uri="{BB962C8B-B14F-4D97-AF65-F5344CB8AC3E}">
        <p14:creationId xmlns:p14="http://schemas.microsoft.com/office/powerpoint/2010/main" val="46904695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D4282-03AD-8240-4003-5B69E29C2B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4DC6E7-A841-3329-71D7-8EA9316DC374}"/>
              </a:ext>
            </a:extLst>
          </p:cNvPr>
          <p:cNvSpPr>
            <a:spLocks noGrp="1"/>
          </p:cNvSpPr>
          <p:nvPr>
            <p:ph type="title"/>
          </p:nvPr>
        </p:nvSpPr>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Collaborative Filtering: Pros and Cons</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0689552-D151-5ABC-8697-C031D751BE21}"/>
              </a:ext>
            </a:extLst>
          </p:cNvPr>
          <p:cNvSpPr>
            <a:spLocks noGrp="1"/>
          </p:cNvSpPr>
          <p:nvPr>
            <p:ph type="sldNum" sz="quarter" idx="12"/>
          </p:nvPr>
        </p:nvSpPr>
        <p:spPr/>
        <p:txBody>
          <a:bodyPr/>
          <a:lstStyle/>
          <a:p>
            <a:fld id="{C1FF6DA9-008F-8B48-92A6-B652298478BF}" type="slidenum">
              <a:rPr lang="en-US" smtClean="0"/>
              <a:t>24</a:t>
            </a:fld>
            <a:endParaRPr lang="en-US"/>
          </a:p>
        </p:txBody>
      </p:sp>
      <p:sp>
        <p:nvSpPr>
          <p:cNvPr id="6" name="TextBox 5">
            <a:extLst>
              <a:ext uri="{FF2B5EF4-FFF2-40B4-BE49-F238E27FC236}">
                <a16:creationId xmlns:a16="http://schemas.microsoft.com/office/drawing/2014/main" id="{32123872-74D0-586E-DB10-13A4BC1A7161}"/>
              </a:ext>
            </a:extLst>
          </p:cNvPr>
          <p:cNvSpPr txBox="1"/>
          <p:nvPr/>
        </p:nvSpPr>
        <p:spPr>
          <a:xfrm>
            <a:off x="265506" y="1361259"/>
            <a:ext cx="4572000" cy="4243726"/>
          </a:xfrm>
          <a:prstGeom prst="rect">
            <a:avLst/>
          </a:prstGeom>
          <a:noFill/>
        </p:spPr>
        <p:txBody>
          <a:bodyPr wrap="square">
            <a:spAutoFit/>
          </a:bodyPr>
          <a:lstStyle/>
          <a:p>
            <a:pPr>
              <a:lnSpc>
                <a:spcPct val="150000"/>
              </a:lnSpc>
              <a:buNone/>
            </a:pPr>
            <a:r>
              <a:rPr lang="en-US" sz="1600" b="1" dirty="0">
                <a:latin typeface="Times New Roman" panose="02020603050405020304" pitchFamily="18" charset="0"/>
                <a:cs typeface="Times New Roman" panose="02020603050405020304" pitchFamily="18" charset="0"/>
              </a:rPr>
              <a:t>Pros:</a:t>
            </a:r>
            <a:endParaRPr lang="en-US" sz="1600"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Discovery:</a:t>
            </a:r>
            <a:r>
              <a:rPr lang="en-US" sz="1600" dirty="0">
                <a:latin typeface="Times New Roman" panose="02020603050405020304" pitchFamily="18" charset="0"/>
                <a:cs typeface="Times New Roman" panose="02020603050405020304" pitchFamily="18" charset="0"/>
              </a:rPr>
              <a:t> Can recommend surprising items you wouldn't have found otherwise, as it leverages the collective intelligence of users.</a:t>
            </a:r>
          </a:p>
          <a:p>
            <a:pPr>
              <a:lnSpc>
                <a:spcPct val="150000"/>
              </a:lnSpc>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 Item Content Needed:</a:t>
            </a:r>
            <a:r>
              <a:rPr lang="en-US" sz="1600" dirty="0">
                <a:latin typeface="Times New Roman" panose="02020603050405020304" pitchFamily="18" charset="0"/>
                <a:cs typeface="Times New Roman" panose="02020603050405020304" pitchFamily="18" charset="0"/>
              </a:rPr>
              <a:t> Doesn't need to understand the item's content (like actors), just user interactions. This is useful for items where features are hard to define (e.g., abstract art).</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Works well for complex items like movies or music where taste is subjective and hard to capture with simple features.</a:t>
            </a:r>
          </a:p>
        </p:txBody>
      </p:sp>
      <p:sp>
        <p:nvSpPr>
          <p:cNvPr id="8" name="TextBox 7">
            <a:extLst>
              <a:ext uri="{FF2B5EF4-FFF2-40B4-BE49-F238E27FC236}">
                <a16:creationId xmlns:a16="http://schemas.microsoft.com/office/drawing/2014/main" id="{D48316E2-38BF-B98B-2020-CDA848F2BECA}"/>
              </a:ext>
            </a:extLst>
          </p:cNvPr>
          <p:cNvSpPr txBox="1"/>
          <p:nvPr/>
        </p:nvSpPr>
        <p:spPr>
          <a:xfrm>
            <a:off x="4663334" y="1461544"/>
            <a:ext cx="4572000" cy="369331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Cons:</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Cold-Start Problem:</a:t>
            </a:r>
            <a:r>
              <a:rPr lang="en-US" dirty="0">
                <a:latin typeface="Times New Roman" panose="02020603050405020304" pitchFamily="18" charset="0"/>
                <a:cs typeface="Times New Roman" panose="02020603050405020304" pitchFamily="18" charset="0"/>
              </a:rPr>
              <a:t> Struggles with new users (</a:t>
            </a:r>
            <a:r>
              <a:rPr lang="en-US" b="1" dirty="0">
                <a:latin typeface="Times New Roman" panose="02020603050405020304" pitchFamily="18" charset="0"/>
                <a:cs typeface="Times New Roman" panose="02020603050405020304" pitchFamily="18" charset="0"/>
              </a:rPr>
              <a:t>no interaction history</a:t>
            </a:r>
            <a:r>
              <a:rPr lang="en-US" dirty="0">
                <a:latin typeface="Times New Roman" panose="02020603050405020304" pitchFamily="18" charset="0"/>
                <a:cs typeface="Times New Roman" panose="02020603050405020304" pitchFamily="18" charset="0"/>
              </a:rPr>
              <a:t>) and new items (no interaction data). It needs sufficient data to find similarities.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Sparsity:</a:t>
            </a:r>
            <a:r>
              <a:rPr lang="en-US" dirty="0">
                <a:latin typeface="Times New Roman" panose="02020603050405020304" pitchFamily="18" charset="0"/>
                <a:cs typeface="Times New Roman" panose="02020603050405020304" pitchFamily="18" charset="0"/>
              </a:rPr>
              <a:t> In large systems, most users only interact with a small fraction of items, leading to a sparse user-item matrix, which can make finding reliable similarities difficult.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Computationally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expensive for very large numbers of users or items</a:t>
            </a:r>
            <a:r>
              <a:rPr lang="en-US" dirty="0">
                <a:latin typeface="Times New Roman" panose="02020603050405020304" pitchFamily="18" charset="0"/>
                <a:cs typeface="Times New Roman" panose="02020603050405020304" pitchFamily="18" charset="0"/>
              </a:rPr>
              <a:t>, especially for user-based approaches, as it requires calculating similarities between many pairs.</a:t>
            </a:r>
          </a:p>
        </p:txBody>
      </p:sp>
    </p:spTree>
    <p:extLst>
      <p:ext uri="{BB962C8B-B14F-4D97-AF65-F5344CB8AC3E}">
        <p14:creationId xmlns:p14="http://schemas.microsoft.com/office/powerpoint/2010/main" val="3510381429"/>
      </p:ext>
    </p:extLst>
  </p:cSld>
  <p:clrMapOvr>
    <a:masterClrMapping/>
  </p:clrMapOvr>
  <p:transition spd="slow">
    <p:push dir="u"/>
  </p:transition>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14799</TotalTime>
  <Words>1062</Words>
  <Application>Microsoft Office PowerPoint</Application>
  <PresentationFormat>On-screen Show (4:3)</PresentationFormat>
  <Paragraphs>118</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Gill Sans MT</vt:lpstr>
      <vt:lpstr>Times New Roman</vt:lpstr>
      <vt:lpstr>Wingdings 2</vt:lpstr>
      <vt:lpstr>Dividend</vt:lpstr>
      <vt:lpstr>PowerPoint Presentation</vt:lpstr>
      <vt:lpstr>PowerPoint Presentation</vt:lpstr>
      <vt:lpstr>Shopee </vt:lpstr>
      <vt:lpstr>NeTFLIX </vt:lpstr>
      <vt:lpstr> </vt:lpstr>
      <vt:lpstr>Defining Recommender Systems</vt:lpstr>
      <vt:lpstr>Why are they so popular?</vt:lpstr>
      <vt:lpstr>Why Do We Need Recommender Systems?</vt:lpstr>
      <vt:lpstr>Why Do We Need Recommender Systems?</vt:lpstr>
      <vt:lpstr>How Do They Work? Filtering Techniques</vt:lpstr>
      <vt:lpstr>Types of filters </vt:lpstr>
      <vt:lpstr>Collaborative Filtering</vt:lpstr>
      <vt:lpstr>Collaborative Filtering</vt:lpstr>
      <vt:lpstr>Collaborative Filtering</vt:lpstr>
      <vt:lpstr>Collaborative Filtering: The "People Like You" Method</vt:lpstr>
      <vt:lpstr> Collaborative Filtering</vt:lpstr>
      <vt:lpstr> Collaborative Filtering</vt:lpstr>
      <vt:lpstr> Collaborative Filtering</vt:lpstr>
      <vt:lpstr> Collaborative Filtering</vt:lpstr>
      <vt:lpstr> Collaborative Filtering</vt:lpstr>
      <vt:lpstr> Collaborative Filtering: Two Approaches</vt:lpstr>
      <vt:lpstr> Collaborative Filtering</vt:lpstr>
      <vt:lpstr> Collaborative Filtering</vt:lpstr>
      <vt:lpstr>Collaborative Filtering: Pros and Cons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Optimized Blockchain Model for Secure and Efficient Data Management in Internet of Things</dc:title>
  <dc:subject/>
  <dc:creator>ZEYAD</dc:creator>
  <cp:keywords/>
  <dc:description>generated using python-pptx</dc:description>
  <cp:lastModifiedBy>Zeyad Abdulhameed Taha Ahmed Dr.</cp:lastModifiedBy>
  <cp:revision>906</cp:revision>
  <dcterms:created xsi:type="dcterms:W3CDTF">2013-01-27T09:14:16Z</dcterms:created>
  <dcterms:modified xsi:type="dcterms:W3CDTF">2026-08-15T03:30:29Z</dcterms:modified>
  <cp:category/>
</cp:coreProperties>
</file>