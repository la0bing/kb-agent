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0"/>
  </p:notesMasterIdLst>
  <p:sldIdLst>
    <p:sldId id="280" r:id="rId2"/>
    <p:sldId id="378" r:id="rId3"/>
    <p:sldId id="310" r:id="rId4"/>
    <p:sldId id="309" r:id="rId5"/>
    <p:sldId id="311" r:id="rId6"/>
    <p:sldId id="312" r:id="rId7"/>
    <p:sldId id="313" r:id="rId8"/>
    <p:sldId id="314" r:id="rId9"/>
    <p:sldId id="315" r:id="rId10"/>
    <p:sldId id="317" r:id="rId11"/>
    <p:sldId id="319" r:id="rId12"/>
    <p:sldId id="379" r:id="rId13"/>
    <p:sldId id="380" r:id="rId14"/>
    <p:sldId id="381" r:id="rId15"/>
    <p:sldId id="382" r:id="rId16"/>
    <p:sldId id="383" r:id="rId17"/>
    <p:sldId id="321" r:id="rId18"/>
    <p:sldId id="322" r:id="rId19"/>
    <p:sldId id="326" r:id="rId20"/>
    <p:sldId id="337" r:id="rId21"/>
    <p:sldId id="329" r:id="rId22"/>
    <p:sldId id="325" r:id="rId23"/>
    <p:sldId id="330" r:id="rId24"/>
    <p:sldId id="334" r:id="rId25"/>
    <p:sldId id="335" r:id="rId26"/>
    <p:sldId id="336" r:id="rId27"/>
    <p:sldId id="384" r:id="rId28"/>
    <p:sldId id="277"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1344" y="78"/>
      </p:cViewPr>
      <p:guideLst>
        <p:guide orient="horz" pos="2160"/>
        <p:guide pos="2880"/>
      </p:guideLst>
    </p:cSldViewPr>
  </p:slideViewPr>
  <p:notesTextViewPr>
    <p:cViewPr>
      <p:scale>
        <a:sx n="100" d="100"/>
        <a:sy n="100" d="100"/>
      </p:scale>
      <p:origin x="0" y="0"/>
    </p:cViewPr>
  </p:notesTextViewPr>
  <p:notesViewPr>
    <p:cSldViewPr snapToGrid="0" snapToObjects="1">
      <p:cViewPr>
        <p:scale>
          <a:sx n="200" d="100"/>
          <a:sy n="200" d="100"/>
        </p:scale>
        <p:origin x="163" y="-800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eyad Abdulhameed Taha Ahmed Dr." userId="62ca5135-6821-4d66-b777-6c29d43860e6" providerId="ADAL" clId="{6EA7027A-386D-4AA3-BBDF-6305CFF3150B}"/>
    <pc:docChg chg="undo custSel addSld delSld modSld modMainMaster">
      <pc:chgData name="Zeyad Abdulhameed Taha Ahmed Dr." userId="62ca5135-6821-4d66-b777-6c29d43860e6" providerId="ADAL" clId="{6EA7027A-386D-4AA3-BBDF-6305CFF3150B}" dt="2025-05-31T18:15:54.028" v="110" actId="6549"/>
      <pc:docMkLst>
        <pc:docMk/>
      </pc:docMkLst>
      <pc:sldChg chg="addSp modSp mod">
        <pc:chgData name="Zeyad Abdulhameed Taha Ahmed Dr." userId="62ca5135-6821-4d66-b777-6c29d43860e6" providerId="ADAL" clId="{6EA7027A-386D-4AA3-BBDF-6305CFF3150B}" dt="2025-05-31T18:15:54.028" v="110" actId="6549"/>
        <pc:sldMkLst>
          <pc:docMk/>
          <pc:sldMk cId="613294622" sldId="298"/>
        </pc:sldMkLst>
      </pc:sldChg>
      <pc:sldChg chg="addSp modSp mod">
        <pc:chgData name="Zeyad Abdulhameed Taha Ahmed Dr." userId="62ca5135-6821-4d66-b777-6c29d43860e6" providerId="ADAL" clId="{6EA7027A-386D-4AA3-BBDF-6305CFF3150B}" dt="2025-05-31T16:30:41.743" v="45" actId="6549"/>
        <pc:sldMkLst>
          <pc:docMk/>
          <pc:sldMk cId="1923596923" sldId="310"/>
        </pc:sldMkLst>
      </pc:sldChg>
      <pc:sldChg chg="addSp delSp modSp mod">
        <pc:chgData name="Zeyad Abdulhameed Taha Ahmed Dr." userId="62ca5135-6821-4d66-b777-6c29d43860e6" providerId="ADAL" clId="{6EA7027A-386D-4AA3-BBDF-6305CFF3150B}" dt="2025-05-31T17:13:25.697" v="63" actId="478"/>
        <pc:sldMkLst>
          <pc:docMk/>
          <pc:sldMk cId="3095637373" sldId="317"/>
        </pc:sldMkLst>
      </pc:sldChg>
      <pc:sldChg chg="modSp mod">
        <pc:chgData name="Zeyad Abdulhameed Taha Ahmed Dr." userId="62ca5135-6821-4d66-b777-6c29d43860e6" providerId="ADAL" clId="{6EA7027A-386D-4AA3-BBDF-6305CFF3150B}" dt="2025-05-31T17:16:28.645" v="79" actId="20577"/>
        <pc:sldMkLst>
          <pc:docMk/>
          <pc:sldMk cId="4110443055" sldId="318"/>
        </pc:sldMkLst>
      </pc:sldChg>
      <pc:sldChg chg="modSp mod">
        <pc:chgData name="Zeyad Abdulhameed Taha Ahmed Dr." userId="62ca5135-6821-4d66-b777-6c29d43860e6" providerId="ADAL" clId="{6EA7027A-386D-4AA3-BBDF-6305CFF3150B}" dt="2025-05-31T17:14:34.457" v="64" actId="113"/>
        <pc:sldMkLst>
          <pc:docMk/>
          <pc:sldMk cId="1498750929" sldId="319"/>
        </pc:sldMkLst>
      </pc:sldChg>
      <pc:sldChg chg="modSp mod">
        <pc:chgData name="Zeyad Abdulhameed Taha Ahmed Dr." userId="62ca5135-6821-4d66-b777-6c29d43860e6" providerId="ADAL" clId="{6EA7027A-386D-4AA3-BBDF-6305CFF3150B}" dt="2025-05-31T17:34:09.729" v="81" actId="1076"/>
        <pc:sldMkLst>
          <pc:docMk/>
          <pc:sldMk cId="4015054648" sldId="321"/>
        </pc:sldMkLst>
      </pc:sldChg>
      <pc:sldChg chg="modSp del mod">
        <pc:chgData name="Zeyad Abdulhameed Taha Ahmed Dr." userId="62ca5135-6821-4d66-b777-6c29d43860e6" providerId="ADAL" clId="{6EA7027A-386D-4AA3-BBDF-6305CFF3150B}" dt="2025-05-31T17:57:30.226" v="91" actId="47"/>
        <pc:sldMkLst>
          <pc:docMk/>
          <pc:sldMk cId="556630764" sldId="324"/>
        </pc:sldMkLst>
      </pc:sldChg>
      <pc:sldChg chg="del">
        <pc:chgData name="Zeyad Abdulhameed Taha Ahmed Dr." userId="62ca5135-6821-4d66-b777-6c29d43860e6" providerId="ADAL" clId="{6EA7027A-386D-4AA3-BBDF-6305CFF3150B}" dt="2025-05-31T17:49:18.847" v="82" actId="47"/>
        <pc:sldMkLst>
          <pc:docMk/>
          <pc:sldMk cId="1314048451" sldId="327"/>
        </pc:sldMkLst>
      </pc:sldChg>
      <pc:sldChg chg="del">
        <pc:chgData name="Zeyad Abdulhameed Taha Ahmed Dr." userId="62ca5135-6821-4d66-b777-6c29d43860e6" providerId="ADAL" clId="{6EA7027A-386D-4AA3-BBDF-6305CFF3150B}" dt="2025-05-31T17:49:34.655" v="83" actId="47"/>
        <pc:sldMkLst>
          <pc:docMk/>
          <pc:sldMk cId="2800600469" sldId="328"/>
        </pc:sldMkLst>
      </pc:sldChg>
      <pc:sldChg chg="modSp mod">
        <pc:chgData name="Zeyad Abdulhameed Taha Ahmed Dr." userId="62ca5135-6821-4d66-b777-6c29d43860e6" providerId="ADAL" clId="{6EA7027A-386D-4AA3-BBDF-6305CFF3150B}" dt="2025-05-31T18:01:30.015" v="106" actId="20577"/>
        <pc:sldMkLst>
          <pc:docMk/>
          <pc:sldMk cId="3364993381" sldId="331"/>
        </pc:sldMkLst>
      </pc:sldChg>
      <pc:sldChg chg="modSp mod">
        <pc:chgData name="Zeyad Abdulhameed Taha Ahmed Dr." userId="62ca5135-6821-4d66-b777-6c29d43860e6" providerId="ADAL" clId="{6EA7027A-386D-4AA3-BBDF-6305CFF3150B}" dt="2025-05-31T17:58:29.257" v="104" actId="27636"/>
        <pc:sldMkLst>
          <pc:docMk/>
          <pc:sldMk cId="4162571133" sldId="335"/>
        </pc:sldMkLst>
      </pc:sldChg>
      <pc:sldChg chg="modSp add mod">
        <pc:chgData name="Zeyad Abdulhameed Taha Ahmed Dr." userId="62ca5135-6821-4d66-b777-6c29d43860e6" providerId="ADAL" clId="{6EA7027A-386D-4AA3-BBDF-6305CFF3150B}" dt="2025-05-31T17:11:55.343" v="62" actId="20577"/>
        <pc:sldMkLst>
          <pc:docMk/>
          <pc:sldMk cId="311707870" sldId="378"/>
        </pc:sldMkLst>
      </pc:sldChg>
      <pc:sldMasterChg chg="modSldLayout">
        <pc:chgData name="Zeyad Abdulhameed Taha Ahmed Dr." userId="62ca5135-6821-4d66-b777-6c29d43860e6" providerId="ADAL" clId="{6EA7027A-386D-4AA3-BBDF-6305CFF3150B}" dt="2025-05-31T16:33:28.774" v="52"/>
        <pc:sldMasterMkLst>
          <pc:docMk/>
          <pc:sldMasterMk cId="1027618415" sldId="2147483672"/>
        </pc:sldMasterMkLst>
        <pc:sldLayoutChg chg="modSp">
          <pc:chgData name="Zeyad Abdulhameed Taha Ahmed Dr." userId="62ca5135-6821-4d66-b777-6c29d43860e6" providerId="ADAL" clId="{6EA7027A-386D-4AA3-BBDF-6305CFF3150B}" dt="2025-05-31T16:33:28.774" v="52"/>
          <pc:sldLayoutMkLst>
            <pc:docMk/>
            <pc:sldMasterMk cId="1027618415" sldId="2147483672"/>
            <pc:sldLayoutMk cId="463476371" sldId="2147483674"/>
          </pc:sldLayoutMkLst>
        </pc:sldLayoutChg>
      </pc:sldMasterChg>
    </pc:docChg>
  </pc:docChgLst>
  <pc:docChgLst>
    <pc:chgData name="Zeyad Abdulhameed Taha Ahmed Dr." userId="62ca5135-6821-4d66-b777-6c29d43860e6" providerId="ADAL" clId="{0EC1E149-5B22-4ACA-9703-CB5751D2CE9C}"/>
    <pc:docChg chg="custSel modSld">
      <pc:chgData name="Zeyad Abdulhameed Taha Ahmed Dr." userId="62ca5135-6821-4d66-b777-6c29d43860e6" providerId="ADAL" clId="{0EC1E149-5B22-4ACA-9703-CB5751D2CE9C}" dt="2026-08-15T03:40:46.410" v="52" actId="120"/>
      <pc:docMkLst>
        <pc:docMk/>
      </pc:docMkLst>
      <pc:sldChg chg="delSp mod">
        <pc:chgData name="Zeyad Abdulhameed Taha Ahmed Dr." userId="62ca5135-6821-4d66-b777-6c29d43860e6" providerId="ADAL" clId="{0EC1E149-5B22-4ACA-9703-CB5751D2CE9C}" dt="2026-08-15T03:29:59.462" v="0" actId="478"/>
        <pc:sldMkLst>
          <pc:docMk/>
          <pc:sldMk cId="3655500541" sldId="280"/>
        </pc:sldMkLst>
        <pc:spChg chg="del">
          <ac:chgData name="Zeyad Abdulhameed Taha Ahmed Dr." userId="62ca5135-6821-4d66-b777-6c29d43860e6" providerId="ADAL" clId="{0EC1E149-5B22-4ACA-9703-CB5751D2CE9C}" dt="2026-08-15T03:29:59.462" v="0" actId="478"/>
          <ac:spMkLst>
            <pc:docMk/>
            <pc:sldMk cId="3655500541" sldId="280"/>
            <ac:spMk id="2" creationId="{9F99B6A5-549A-473A-8B75-487A33870404}"/>
          </ac:spMkLst>
        </pc:spChg>
      </pc:sldChg>
      <pc:sldChg chg="modSp mod">
        <pc:chgData name="Zeyad Abdulhameed Taha Ahmed Dr." userId="62ca5135-6821-4d66-b777-6c29d43860e6" providerId="ADAL" clId="{0EC1E149-5B22-4ACA-9703-CB5751D2CE9C}" dt="2026-08-15T03:40:46.410" v="52" actId="120"/>
        <pc:sldMkLst>
          <pc:docMk/>
          <pc:sldMk cId="311707870" sldId="378"/>
        </pc:sldMkLst>
        <pc:graphicFrameChg chg="modGraphic">
          <ac:chgData name="Zeyad Abdulhameed Taha Ahmed Dr." userId="62ca5135-6821-4d66-b777-6c29d43860e6" providerId="ADAL" clId="{0EC1E149-5B22-4ACA-9703-CB5751D2CE9C}" dt="2026-08-15T03:40:46.410" v="52" actId="120"/>
          <ac:graphicFrameMkLst>
            <pc:docMk/>
            <pc:sldMk cId="311707870" sldId="378"/>
            <ac:graphicFrameMk id="13" creationId="{272F9BDA-0B4B-73FB-94AD-5E26FAD67FA5}"/>
          </ac:graphicFrameMkLst>
        </pc:graphicFrameChg>
      </pc:sldChg>
    </pc:docChg>
  </pc:docChgLst>
  <pc:docChgLst>
    <pc:chgData name="Zeyad Abdulhameed Taha Ahmed Dr." userId="62ca5135-6821-4d66-b777-6c29d43860e6" providerId="ADAL" clId="{1D231EBF-0865-43BE-B9FD-016644DC4BDB}"/>
    <pc:docChg chg="modSld">
      <pc:chgData name="Zeyad Abdulhameed Taha Ahmed Dr." userId="62ca5135-6821-4d66-b777-6c29d43860e6" providerId="ADAL" clId="{1D231EBF-0865-43BE-B9FD-016644DC4BDB}" dt="2025-10-10T16:19:00.215" v="0" actId="20577"/>
      <pc:docMkLst>
        <pc:docMk/>
      </pc:docMkLst>
      <pc:sldChg chg="modSp mod">
        <pc:chgData name="Zeyad Abdulhameed Taha Ahmed Dr." userId="62ca5135-6821-4d66-b777-6c29d43860e6" providerId="ADAL" clId="{1D231EBF-0865-43BE-B9FD-016644DC4BDB}" dt="2025-10-10T16:19:00.215" v="0" actId="20577"/>
        <pc:sldMkLst>
          <pc:docMk/>
          <pc:sldMk cId="3655500541" sldId="280"/>
        </pc:sldMkLst>
        <pc:spChg chg="mod">
          <ac:chgData name="Zeyad Abdulhameed Taha Ahmed Dr." userId="62ca5135-6821-4d66-b777-6c29d43860e6" providerId="ADAL" clId="{1D231EBF-0865-43BE-B9FD-016644DC4BDB}" dt="2025-10-10T16:19:00.215" v="0" actId="20577"/>
          <ac:spMkLst>
            <pc:docMk/>
            <pc:sldMk cId="3655500541" sldId="280"/>
            <ac:spMk id="2" creationId="{9F99B6A5-549A-473A-8B75-487A33870404}"/>
          </ac:spMkLst>
        </pc:spChg>
      </pc:sldChg>
    </pc:docChg>
  </pc:docChgLst>
  <pc:docChgLst>
    <pc:chgData name="Zeyad Abdulhameed Taha Ahmed Dr." userId="62ca5135-6821-4d66-b777-6c29d43860e6" providerId="ADAL" clId="{836C39C3-8241-4977-B5CF-509E5B29D3D3}"/>
    <pc:docChg chg="undo custSel addSld delSld modSld sldOrd">
      <pc:chgData name="Zeyad Abdulhameed Taha Ahmed Dr." userId="62ca5135-6821-4d66-b777-6c29d43860e6" providerId="ADAL" clId="{836C39C3-8241-4977-B5CF-509E5B29D3D3}" dt="2025-08-19T19:32:32.801" v="146"/>
      <pc:docMkLst>
        <pc:docMk/>
      </pc:docMkLst>
      <pc:sldChg chg="modSp mod">
        <pc:chgData name="Zeyad Abdulhameed Taha Ahmed Dr." userId="62ca5135-6821-4d66-b777-6c29d43860e6" providerId="ADAL" clId="{836C39C3-8241-4977-B5CF-509E5B29D3D3}" dt="2025-08-19T19:01:23.480" v="10" actId="20577"/>
        <pc:sldMkLst>
          <pc:docMk/>
          <pc:sldMk cId="3655500541" sldId="280"/>
        </pc:sldMkLst>
      </pc:sldChg>
      <pc:sldChg chg="del">
        <pc:chgData name="Zeyad Abdulhameed Taha Ahmed Dr." userId="62ca5135-6821-4d66-b777-6c29d43860e6" providerId="ADAL" clId="{836C39C3-8241-4977-B5CF-509E5B29D3D3}" dt="2025-08-19T19:32:01.001" v="144" actId="47"/>
        <pc:sldMkLst>
          <pc:docMk/>
          <pc:sldMk cId="613294622" sldId="298"/>
        </pc:sldMkLst>
      </pc:sldChg>
      <pc:sldChg chg="del">
        <pc:chgData name="Zeyad Abdulhameed Taha Ahmed Dr." userId="62ca5135-6821-4d66-b777-6c29d43860e6" providerId="ADAL" clId="{836C39C3-8241-4977-B5CF-509E5B29D3D3}" dt="2025-08-19T19:06:22.431" v="45" actId="47"/>
        <pc:sldMkLst>
          <pc:docMk/>
          <pc:sldMk cId="4110443055" sldId="318"/>
        </pc:sldMkLst>
      </pc:sldChg>
      <pc:sldChg chg="ord">
        <pc:chgData name="Zeyad Abdulhameed Taha Ahmed Dr." userId="62ca5135-6821-4d66-b777-6c29d43860e6" providerId="ADAL" clId="{836C39C3-8241-4977-B5CF-509E5B29D3D3}" dt="2025-08-19T19:07:32.118" v="47"/>
        <pc:sldMkLst>
          <pc:docMk/>
          <pc:sldMk cId="2811627666" sldId="329"/>
        </pc:sldMkLst>
      </pc:sldChg>
      <pc:sldChg chg="del">
        <pc:chgData name="Zeyad Abdulhameed Taha Ahmed Dr." userId="62ca5135-6821-4d66-b777-6c29d43860e6" providerId="ADAL" clId="{836C39C3-8241-4977-B5CF-509E5B29D3D3}" dt="2025-08-19T19:08:55.950" v="49" actId="47"/>
        <pc:sldMkLst>
          <pc:docMk/>
          <pc:sldMk cId="3364993381" sldId="331"/>
        </pc:sldMkLst>
      </pc:sldChg>
      <pc:sldChg chg="del">
        <pc:chgData name="Zeyad Abdulhameed Taha Ahmed Dr." userId="62ca5135-6821-4d66-b777-6c29d43860e6" providerId="ADAL" clId="{836C39C3-8241-4977-B5CF-509E5B29D3D3}" dt="2025-08-19T19:08:10.258" v="48" actId="47"/>
        <pc:sldMkLst>
          <pc:docMk/>
          <pc:sldMk cId="496725806" sldId="333"/>
        </pc:sldMkLst>
      </pc:sldChg>
      <pc:sldChg chg="delSp modSp mod ord">
        <pc:chgData name="Zeyad Abdulhameed Taha Ahmed Dr." userId="62ca5135-6821-4d66-b777-6c29d43860e6" providerId="ADAL" clId="{836C39C3-8241-4977-B5CF-509E5B29D3D3}" dt="2025-08-19T19:32:32.801" v="146"/>
        <pc:sldMkLst>
          <pc:docMk/>
          <pc:sldMk cId="311707870" sldId="378"/>
        </pc:sldMkLst>
      </pc:sldChg>
      <pc:sldChg chg="modSp add mod">
        <pc:chgData name="Zeyad Abdulhameed Taha Ahmed Dr." userId="62ca5135-6821-4d66-b777-6c29d43860e6" providerId="ADAL" clId="{836C39C3-8241-4977-B5CF-509E5B29D3D3}" dt="2025-08-19T19:11:30.323" v="78" actId="5793"/>
        <pc:sldMkLst>
          <pc:docMk/>
          <pc:sldMk cId="2697757171" sldId="379"/>
        </pc:sldMkLst>
      </pc:sldChg>
      <pc:sldChg chg="addSp delSp modSp add mod">
        <pc:chgData name="Zeyad Abdulhameed Taha Ahmed Dr." userId="62ca5135-6821-4d66-b777-6c29d43860e6" providerId="ADAL" clId="{836C39C3-8241-4977-B5CF-509E5B29D3D3}" dt="2025-08-19T19:15:48.960" v="98" actId="403"/>
        <pc:sldMkLst>
          <pc:docMk/>
          <pc:sldMk cId="1990908169" sldId="380"/>
        </pc:sldMkLst>
      </pc:sldChg>
      <pc:sldChg chg="modSp add mod">
        <pc:chgData name="Zeyad Abdulhameed Taha Ahmed Dr." userId="62ca5135-6821-4d66-b777-6c29d43860e6" providerId="ADAL" clId="{836C39C3-8241-4977-B5CF-509E5B29D3D3}" dt="2025-08-19T19:16:41.041" v="103" actId="403"/>
        <pc:sldMkLst>
          <pc:docMk/>
          <pc:sldMk cId="2599317719" sldId="381"/>
        </pc:sldMkLst>
      </pc:sldChg>
      <pc:sldChg chg="modSp add mod">
        <pc:chgData name="Zeyad Abdulhameed Taha Ahmed Dr." userId="62ca5135-6821-4d66-b777-6c29d43860e6" providerId="ADAL" clId="{836C39C3-8241-4977-B5CF-509E5B29D3D3}" dt="2025-08-19T19:17:52.618" v="113" actId="1076"/>
        <pc:sldMkLst>
          <pc:docMk/>
          <pc:sldMk cId="3378334937" sldId="382"/>
        </pc:sldMkLst>
      </pc:sldChg>
      <pc:sldChg chg="addSp delSp modSp add mod">
        <pc:chgData name="Zeyad Abdulhameed Taha Ahmed Dr." userId="62ca5135-6821-4d66-b777-6c29d43860e6" providerId="ADAL" clId="{836C39C3-8241-4977-B5CF-509E5B29D3D3}" dt="2025-08-19T19:19:46.199" v="131" actId="404"/>
        <pc:sldMkLst>
          <pc:docMk/>
          <pc:sldMk cId="3970588589" sldId="383"/>
        </pc:sldMkLst>
      </pc:sldChg>
      <pc:sldChg chg="addSp delSp modSp add mod">
        <pc:chgData name="Zeyad Abdulhameed Taha Ahmed Dr." userId="62ca5135-6821-4d66-b777-6c29d43860e6" providerId="ADAL" clId="{836C39C3-8241-4977-B5CF-509E5B29D3D3}" dt="2025-08-19T19:21:59.962" v="143" actId="13900"/>
        <pc:sldMkLst>
          <pc:docMk/>
          <pc:sldMk cId="115065163" sldId="384"/>
        </pc:sldMkLst>
      </pc:sldChg>
    </pc:docChg>
  </pc:docChgLst>
  <pc:docChgLst>
    <pc:chgData name="Zeyad Abdulhameed Taha Ahmed Dr." userId="62ca5135-6821-4d66-b777-6c29d43860e6" providerId="ADAL" clId="{081F3BD5-D6A0-41F3-BF4E-6E46F2E3EAA4}"/>
    <pc:docChg chg="custSel addSld delSld modSld">
      <pc:chgData name="Zeyad Abdulhameed Taha Ahmed Dr." userId="62ca5135-6821-4d66-b777-6c29d43860e6" providerId="ADAL" clId="{081F3BD5-D6A0-41F3-BF4E-6E46F2E3EAA4}" dt="2025-08-20T15:06:19.354" v="8" actId="478"/>
      <pc:docMkLst>
        <pc:docMk/>
      </pc:docMkLst>
      <pc:sldChg chg="modSp mod">
        <pc:chgData name="Zeyad Abdulhameed Taha Ahmed Dr." userId="62ca5135-6821-4d66-b777-6c29d43860e6" providerId="ADAL" clId="{081F3BD5-D6A0-41F3-BF4E-6E46F2E3EAA4}" dt="2025-08-20T15:04:23.921" v="2"/>
        <pc:sldMkLst>
          <pc:docMk/>
          <pc:sldMk cId="3655500541" sldId="280"/>
        </pc:sldMkLst>
      </pc:sldChg>
      <pc:sldChg chg="add del">
        <pc:chgData name="Zeyad Abdulhameed Taha Ahmed Dr." userId="62ca5135-6821-4d66-b777-6c29d43860e6" providerId="ADAL" clId="{081F3BD5-D6A0-41F3-BF4E-6E46F2E3EAA4}" dt="2025-08-20T15:04:52.324" v="4"/>
        <pc:sldMkLst>
          <pc:docMk/>
          <pc:sldMk cId="311707870" sldId="378"/>
        </pc:sldMkLst>
      </pc:sldChg>
      <pc:sldChg chg="modSp mod">
        <pc:chgData name="Zeyad Abdulhameed Taha Ahmed Dr." userId="62ca5135-6821-4d66-b777-6c29d43860e6" providerId="ADAL" clId="{081F3BD5-D6A0-41F3-BF4E-6E46F2E3EAA4}" dt="2025-08-20T15:05:41.951" v="7" actId="1076"/>
        <pc:sldMkLst>
          <pc:docMk/>
          <pc:sldMk cId="3970588589" sldId="383"/>
        </pc:sldMkLst>
      </pc:sldChg>
      <pc:sldChg chg="delSp mod">
        <pc:chgData name="Zeyad Abdulhameed Taha Ahmed Dr." userId="62ca5135-6821-4d66-b777-6c29d43860e6" providerId="ADAL" clId="{081F3BD5-D6A0-41F3-BF4E-6E46F2E3EAA4}" dt="2025-08-20T15:06:19.354" v="8" actId="478"/>
        <pc:sldMkLst>
          <pc:docMk/>
          <pc:sldMk cId="115065163" sldId="38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5DA80B-487E-4FD5-B81D-BB4AF3380AF4}" type="datetimeFigureOut">
              <a:rPr lang="en-GB" smtClean="0"/>
              <a:t>15/08/2026</a:t>
            </a:fld>
            <a:endParaRPr lang="en-GB"/>
          </a:p>
        </p:txBody>
      </p:sp>
      <p:sp>
        <p:nvSpPr>
          <p:cNvPr id="4" name="Slide Image Placeholder 3"/>
          <p:cNvSpPr>
            <a:spLocks noGrp="1" noRot="1" noChangeAspect="1"/>
          </p:cNvSpPr>
          <p:nvPr>
            <p:ph type="sldImg" idx="2"/>
          </p:nvPr>
        </p:nvSpPr>
        <p:spPr>
          <a:xfrm>
            <a:off x="136398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0ED6AE-A6C0-4C43-B300-C0B8F82B5DAD}" type="slidenum">
              <a:rPr lang="en-GB" smtClean="0"/>
              <a:t>‹#›</a:t>
            </a:fld>
            <a:endParaRPr lang="en-GB"/>
          </a:p>
        </p:txBody>
      </p:sp>
    </p:spTree>
    <p:extLst>
      <p:ext uri="{BB962C8B-B14F-4D97-AF65-F5344CB8AC3E}">
        <p14:creationId xmlns:p14="http://schemas.microsoft.com/office/powerpoint/2010/main" val="1234580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63663" y="1143000"/>
            <a:ext cx="41148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00ED6AE-A6C0-4C43-B300-C0B8F82B5DAD}" type="slidenum">
              <a:rPr lang="en-GB" smtClean="0"/>
              <a:t>28</a:t>
            </a:fld>
            <a:endParaRPr lang="en-GB"/>
          </a:p>
        </p:txBody>
      </p:sp>
    </p:spTree>
    <p:extLst>
      <p:ext uri="{BB962C8B-B14F-4D97-AF65-F5344CB8AC3E}">
        <p14:creationId xmlns:p14="http://schemas.microsoft.com/office/powerpoint/2010/main" val="3543581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Slide Number Placeholder 5"/>
          <p:cNvSpPr>
            <a:spLocks noGrp="1"/>
          </p:cNvSpPr>
          <p:nvPr>
            <p:ph type="sldNum" sz="quarter" idx="12"/>
          </p:nvPr>
        </p:nvSpPr>
        <p:spPr>
          <a:xfrm>
            <a:off x="8340435" y="6230773"/>
            <a:ext cx="512016" cy="365125"/>
          </a:xfrm>
          <a:solidFill>
            <a:schemeClr val="tx2">
              <a:lumMod val="20000"/>
              <a:lumOff val="80000"/>
            </a:schemeClr>
          </a:solidFill>
        </p:spPr>
        <p:txBody>
          <a:bodyPr/>
          <a:lstStyle>
            <a:lvl1pPr>
              <a:defRPr>
                <a:solidFill>
                  <a:schemeClr val="accent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507247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6"/>
            <a:ext cx="8238707" cy="66565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 name="Title 1"/>
          <p:cNvSpPr>
            <a:spLocks noGrp="1"/>
          </p:cNvSpPr>
          <p:nvPr>
            <p:ph type="title" hasCustomPrompt="1"/>
          </p:nvPr>
        </p:nvSpPr>
        <p:spPr>
          <a:xfrm>
            <a:off x="581192" y="687475"/>
            <a:ext cx="7989752" cy="513252"/>
          </a:xfrm>
        </p:spPr>
        <p:txBody>
          <a:bodyPr/>
          <a:lstStyle>
            <a:lvl1pPr>
              <a:defRPr b="1" cap="none">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581192" y="2228003"/>
            <a:ext cx="7989752" cy="3630795"/>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3476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930953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28435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a:xfrm>
            <a:off x="581192" y="6247731"/>
            <a:ext cx="4870585" cy="365125"/>
          </a:xfrm>
          <a:prstGeom prst="rect">
            <a:avLst/>
          </a:prstGeom>
        </p:spPr>
        <p:txBody>
          <a:bodyPr/>
          <a:lstStyle/>
          <a:p>
            <a:endParaRPr lang="en-US"/>
          </a:p>
        </p:txBody>
      </p:sp>
      <p:sp>
        <p:nvSpPr>
          <p:cNvPr id="9" name="Slide Number Placeholder 8"/>
          <p:cNvSpPr>
            <a:spLocks noGrp="1"/>
          </p:cNvSpPr>
          <p:nvPr>
            <p:ph type="sldNum" sz="quarter" idx="12"/>
          </p:nvPr>
        </p:nvSpPr>
        <p:spPr>
          <a:solidFill>
            <a:schemeClr val="bg2">
              <a:lumMod val="90000"/>
            </a:schemeClr>
          </a:solidFill>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5823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1227797"/>
            <a:ext cx="8238707" cy="391685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a:xfrm>
            <a:off x="581192" y="6247731"/>
            <a:ext cx="4870585"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79565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a:xfrm>
            <a:off x="581192" y="6247731"/>
            <a:ext cx="4870585"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8761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endParaRPr lang="en-US"/>
          </a:p>
        </p:txBody>
      </p:sp>
      <p:sp>
        <p:nvSpPr>
          <p:cNvPr id="6" name="Footer Placeholder 5"/>
          <p:cNvSpPr>
            <a:spLocks noGrp="1"/>
          </p:cNvSpPr>
          <p:nvPr>
            <p:ph type="ftr" sz="quarter" idx="11"/>
          </p:nvPr>
        </p:nvSpPr>
        <p:spPr>
          <a:xfrm>
            <a:off x="581192" y="6247731"/>
            <a:ext cx="4870585" cy="365125"/>
          </a:xfrm>
          <a:prstGeom prst="rect">
            <a:avLst/>
          </a:prstGeom>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98837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a:xfrm>
            <a:off x="581192" y="6247731"/>
            <a:ext cx="4870585"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23114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581192" y="6247731"/>
            <a:ext cx="4870585"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74097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endParaRPr lang="en-US"/>
          </a:p>
        </p:txBody>
      </p:sp>
      <p:sp>
        <p:nvSpPr>
          <p:cNvPr id="5" name="Footer Placeholder 4"/>
          <p:cNvSpPr>
            <a:spLocks noGrp="1"/>
          </p:cNvSpPr>
          <p:nvPr>
            <p:ph type="ftr" sz="quarter" idx="11"/>
          </p:nvPr>
        </p:nvSpPr>
        <p:spPr>
          <a:xfrm>
            <a:off x="581192" y="5951810"/>
            <a:ext cx="5922209"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49407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2F22E408-EF1D-4BD0-98E0-8FC4C9B3A82C}"/>
              </a:ext>
            </a:extLst>
          </p:cNvPr>
          <p:cNvSpPr txBox="1">
            <a:spLocks/>
          </p:cNvSpPr>
          <p:nvPr userDrawn="1"/>
        </p:nvSpPr>
        <p:spPr>
          <a:xfrm>
            <a:off x="8815648" y="6625243"/>
            <a:ext cx="328352" cy="232757"/>
          </a:xfrm>
          <a:prstGeom prst="rect">
            <a:avLst/>
          </a:prstGeom>
          <a:solidFill>
            <a:schemeClr val="accent4"/>
          </a:solidFill>
        </p:spPr>
        <p:txBody>
          <a:bodyPr vert="horz" lIns="68580" tIns="34290" rIns="68580" bIns="3429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9631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1" y="2228003"/>
            <a:ext cx="8294953" cy="4440652"/>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854891" y="6238495"/>
            <a:ext cx="2133600" cy="365125"/>
          </a:xfrm>
          <a:prstGeom prst="rect">
            <a:avLst/>
          </a:prstGeom>
        </p:spPr>
        <p:txBody>
          <a:bodyPr vert="horz" lIns="91440" tIns="45720" rIns="91440" bIns="45720" rtlCol="0" anchor="ctr"/>
          <a:lstStyle>
            <a:lvl1pPr algn="r">
              <a:defRPr sz="900">
                <a:solidFill>
                  <a:schemeClr val="accent2"/>
                </a:solidFill>
              </a:defRPr>
            </a:lvl1pPr>
          </a:lstStyle>
          <a:p>
            <a:endParaRPr lang="en-US" dirty="0"/>
          </a:p>
        </p:txBody>
      </p:sp>
      <p:sp>
        <p:nvSpPr>
          <p:cNvPr id="6" name="Slide Number Placeholder 5"/>
          <p:cNvSpPr>
            <a:spLocks noGrp="1"/>
          </p:cNvSpPr>
          <p:nvPr>
            <p:ph type="sldNum" sz="quarter" idx="4"/>
          </p:nvPr>
        </p:nvSpPr>
        <p:spPr>
          <a:xfrm>
            <a:off x="8081983" y="6230773"/>
            <a:ext cx="770468" cy="365125"/>
          </a:xfrm>
          <a:prstGeom prst="rect">
            <a:avLst/>
          </a:prstGeom>
        </p:spPr>
        <p:txBody>
          <a:bodyPr vert="horz" lIns="91440" tIns="45720" rIns="91440" bIns="45720" rtlCol="0" anchor="ctr"/>
          <a:lstStyle>
            <a:lvl1pPr algn="r">
              <a:defRPr sz="900">
                <a:solidFill>
                  <a:schemeClr val="accent2"/>
                </a:solidFill>
              </a:defRPr>
            </a:lvl1pPr>
          </a:lstStyle>
          <a:p>
            <a:fld id="{C1FF6DA9-008F-8B48-92A6-B652298478BF}" type="slidenum">
              <a:rPr lang="en-US" smtClean="0"/>
              <a:t>‹#›</a:t>
            </a:fld>
            <a:endParaRPr lang="en-US" dirty="0"/>
          </a:p>
        </p:txBody>
      </p:sp>
      <p:sp>
        <p:nvSpPr>
          <p:cNvPr id="9" name="Rectangle 8"/>
          <p:cNvSpPr/>
          <p:nvPr/>
        </p:nvSpPr>
        <p:spPr>
          <a:xfrm>
            <a:off x="448091" y="441325"/>
            <a:ext cx="2858527"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MY"/>
          </a:p>
        </p:txBody>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MY"/>
          </a:p>
        </p:txBody>
      </p:sp>
      <p:sp>
        <p:nvSpPr>
          <p:cNvPr id="11" name="Rectangle 10"/>
          <p:cNvSpPr/>
          <p:nvPr/>
        </p:nvSpPr>
        <p:spPr>
          <a:xfrm>
            <a:off x="3216601" y="450561"/>
            <a:ext cx="2944054" cy="9541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MY"/>
          </a:p>
        </p:txBody>
      </p:sp>
      <p:sp>
        <p:nvSpPr>
          <p:cNvPr id="12" name="Rectangle 11">
            <a:extLst>
              <a:ext uri="{FF2B5EF4-FFF2-40B4-BE49-F238E27FC236}">
                <a16:creationId xmlns:a16="http://schemas.microsoft.com/office/drawing/2014/main" id="{0A395283-5234-4B65-B0C9-D21129F91941}"/>
              </a:ext>
            </a:extLst>
          </p:cNvPr>
          <p:cNvSpPr/>
          <p:nvPr userDrawn="1"/>
        </p:nvSpPr>
        <p:spPr>
          <a:xfrm>
            <a:off x="693752" y="6032863"/>
            <a:ext cx="7989752"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MY"/>
          </a:p>
        </p:txBody>
      </p:sp>
    </p:spTree>
    <p:extLst>
      <p:ext uri="{BB962C8B-B14F-4D97-AF65-F5344CB8AC3E}">
        <p14:creationId xmlns:p14="http://schemas.microsoft.com/office/powerpoint/2010/main" val="10276184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9000"/>
            <a:lum/>
          </a:blip>
          <a:srcRect/>
          <a:stretch>
            <a:fillRect l="-17000" r="-17000"/>
          </a:stretch>
        </a:blipFill>
        <a:effectLst/>
      </p:bgPr>
    </p:bg>
    <p:spTree>
      <p:nvGrpSpPr>
        <p:cNvPr id="1" name=""/>
        <p:cNvGrpSpPr/>
        <p:nvPr/>
      </p:nvGrpSpPr>
      <p:grpSpPr>
        <a:xfrm>
          <a:off x="0" y="0"/>
          <a:ext cx="0" cy="0"/>
          <a:chOff x="0" y="0"/>
          <a:chExt cx="0" cy="0"/>
        </a:xfrm>
      </p:grpSpPr>
      <p:pic>
        <p:nvPicPr>
          <p:cNvPr id="5" name="Picture 2" descr="INTI International University &amp; Colleges | Malaysia">
            <a:extLst>
              <a:ext uri="{FF2B5EF4-FFF2-40B4-BE49-F238E27FC236}">
                <a16:creationId xmlns:a16="http://schemas.microsoft.com/office/drawing/2014/main" id="{1D662761-2DC2-B87A-902A-FBF383D5DE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3307" y="562678"/>
            <a:ext cx="3662382" cy="788587"/>
          </a:xfrm>
          <a:prstGeom prst="rect">
            <a:avLst/>
          </a:prstGeom>
          <a:noFill/>
          <a:extLst>
            <a:ext uri="{909E8E84-426E-40DD-AFC4-6F175D3DCCD1}">
              <a14:hiddenFill xmlns:a14="http://schemas.microsoft.com/office/drawing/2010/main">
                <a:solidFill>
                  <a:srgbClr val="FFFFFF"/>
                </a:solidFill>
              </a14:hiddenFill>
            </a:ext>
          </a:extLst>
        </p:spPr>
      </p:pic>
      <p:sp>
        <p:nvSpPr>
          <p:cNvPr id="4" name="Subtitle 11"/>
          <p:cNvSpPr txBox="1">
            <a:spLocks/>
          </p:cNvSpPr>
          <p:nvPr/>
        </p:nvSpPr>
        <p:spPr>
          <a:xfrm>
            <a:off x="3623829" y="5395309"/>
            <a:ext cx="5520171" cy="1278614"/>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225"/>
              </a:spcBef>
            </a:pPr>
            <a:r>
              <a:rPr lang="en-US" sz="2000" dirty="0">
                <a:effectLst>
                  <a:outerShdw blurRad="38100" dist="38100" dir="2700000" algn="tl">
                    <a:srgbClr val="000000">
                      <a:alpha val="43137"/>
                    </a:srgbClr>
                  </a:outerShdw>
                </a:effectLst>
              </a:rPr>
              <a:t>Dr. Zeyad Ahmed</a:t>
            </a:r>
            <a:endParaRPr lang="en-US" sz="2000" dirty="0"/>
          </a:p>
        </p:txBody>
      </p:sp>
      <p:sp>
        <p:nvSpPr>
          <p:cNvPr id="14" name="Subtitle 11">
            <a:extLst>
              <a:ext uri="{FF2B5EF4-FFF2-40B4-BE49-F238E27FC236}">
                <a16:creationId xmlns:a16="http://schemas.microsoft.com/office/drawing/2014/main" id="{7DD300AE-D81E-4AC8-BC57-566B57D6C660}"/>
              </a:ext>
            </a:extLst>
          </p:cNvPr>
          <p:cNvSpPr txBox="1">
            <a:spLocks/>
          </p:cNvSpPr>
          <p:nvPr/>
        </p:nvSpPr>
        <p:spPr>
          <a:xfrm>
            <a:off x="89452" y="2406747"/>
            <a:ext cx="1787193" cy="438401"/>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225"/>
              </a:spcBef>
            </a:pPr>
            <a:endParaRPr lang="en-US" sz="1000" b="0" dirty="0"/>
          </a:p>
        </p:txBody>
      </p:sp>
      <p:sp>
        <p:nvSpPr>
          <p:cNvPr id="17" name="Rectangle: Rounded Corners 16">
            <a:extLst>
              <a:ext uri="{FF2B5EF4-FFF2-40B4-BE49-F238E27FC236}">
                <a16:creationId xmlns:a16="http://schemas.microsoft.com/office/drawing/2014/main" id="{F2213882-6464-4A96-96D5-EA4F95F404DE}"/>
              </a:ext>
            </a:extLst>
          </p:cNvPr>
          <p:cNvSpPr/>
          <p:nvPr/>
        </p:nvSpPr>
        <p:spPr>
          <a:xfrm>
            <a:off x="715655" y="3892643"/>
            <a:ext cx="8212950" cy="908962"/>
          </a:xfrm>
          <a:prstGeom prst="roundRect">
            <a:avLst/>
          </a:prstGeom>
          <a:solidFill>
            <a:schemeClr val="accent2">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IN" sz="2400" b="1" dirty="0">
                <a:solidFill>
                  <a:schemeClr val="bg1"/>
                </a:solidFill>
                <a:latin typeface="Times New Roman" panose="02020603050405020304" pitchFamily="18" charset="0"/>
                <a:cs typeface="Times New Roman" panose="02020603050405020304" pitchFamily="18" charset="0"/>
              </a:rPr>
              <a:t>ARTIFICIAL INTELLIGENCE</a:t>
            </a:r>
            <a:br>
              <a:rPr lang="en-IN" sz="2400" b="1" dirty="0">
                <a:solidFill>
                  <a:schemeClr val="bg1"/>
                </a:solidFill>
                <a:latin typeface="Times New Roman" panose="02020603050405020304" pitchFamily="18" charset="0"/>
                <a:cs typeface="Times New Roman" panose="02020603050405020304" pitchFamily="18" charset="0"/>
              </a:rPr>
            </a:br>
            <a:r>
              <a:rPr lang="en-IN" sz="2400" b="1" dirty="0">
                <a:solidFill>
                  <a:schemeClr val="bg1"/>
                </a:solidFill>
                <a:latin typeface="Times New Roman" panose="02020603050405020304" pitchFamily="18" charset="0"/>
                <a:cs typeface="Times New Roman" panose="02020603050405020304" pitchFamily="18" charset="0"/>
              </a:rPr>
              <a:t>(General And Popular Perspective)</a:t>
            </a:r>
          </a:p>
        </p:txBody>
      </p:sp>
    </p:spTree>
    <p:extLst>
      <p:ext uri="{BB962C8B-B14F-4D97-AF65-F5344CB8AC3E}">
        <p14:creationId xmlns:p14="http://schemas.microsoft.com/office/powerpoint/2010/main" val="3655500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11059-A2D1-63D2-0CB7-492DD3B8EE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73811-1AC1-A6F9-429F-C702155F79C5}"/>
              </a:ext>
            </a:extLst>
          </p:cNvPr>
          <p:cNvSpPr>
            <a:spLocks noGrp="1"/>
          </p:cNvSpPr>
          <p:nvPr>
            <p:ph type="title"/>
          </p:nvPr>
        </p:nvSpPr>
        <p:spPr/>
        <p:txBody>
          <a:bodyPr>
            <a:normAutofit fontScale="90000"/>
          </a:bodyPr>
          <a:lstStyle/>
          <a:p>
            <a:r>
              <a:rPr lang="en-US"/>
              <a:t>  </a:t>
            </a:r>
            <a:endParaRPr lang="en-GB" dirty="0"/>
          </a:p>
        </p:txBody>
      </p:sp>
      <p:sp>
        <p:nvSpPr>
          <p:cNvPr id="4" name="Slide Number Placeholder 3">
            <a:extLst>
              <a:ext uri="{FF2B5EF4-FFF2-40B4-BE49-F238E27FC236}">
                <a16:creationId xmlns:a16="http://schemas.microsoft.com/office/drawing/2014/main" id="{6E3AEE5B-B1DB-7964-6DF5-750C54FF41CE}"/>
              </a:ext>
            </a:extLst>
          </p:cNvPr>
          <p:cNvSpPr>
            <a:spLocks noGrp="1"/>
          </p:cNvSpPr>
          <p:nvPr>
            <p:ph type="sldNum" sz="quarter" idx="12"/>
          </p:nvPr>
        </p:nvSpPr>
        <p:spPr/>
        <p:txBody>
          <a:bodyPr/>
          <a:lstStyle/>
          <a:p>
            <a:fld id="{C1FF6DA9-008F-8B48-92A6-B652298478BF}" type="slidenum">
              <a:rPr lang="en-US" smtClean="0"/>
              <a:t>2</a:t>
            </a:fld>
            <a:endParaRPr lang="en-US"/>
          </a:p>
        </p:txBody>
      </p:sp>
      <p:sp>
        <p:nvSpPr>
          <p:cNvPr id="3" name="TextBox 2">
            <a:extLst>
              <a:ext uri="{FF2B5EF4-FFF2-40B4-BE49-F238E27FC236}">
                <a16:creationId xmlns:a16="http://schemas.microsoft.com/office/drawing/2014/main" id="{3DF1B5C1-5DB9-AC93-342A-38C5A292EE86}"/>
              </a:ext>
            </a:extLst>
          </p:cNvPr>
          <p:cNvSpPr txBox="1"/>
          <p:nvPr/>
        </p:nvSpPr>
        <p:spPr>
          <a:xfrm>
            <a:off x="841928" y="5524194"/>
            <a:ext cx="7729016" cy="646331"/>
          </a:xfrm>
          <a:prstGeom prst="rect">
            <a:avLst/>
          </a:prstGeom>
          <a:noFill/>
        </p:spPr>
        <p:txBody>
          <a:bodyPr wrap="square">
            <a:spAutoFit/>
          </a:bodyPr>
          <a:lstStyle/>
          <a:p>
            <a:pPr algn="l">
              <a:spcBef>
                <a:spcPts val="1125"/>
              </a:spcBef>
            </a:pPr>
            <a:r>
              <a:rPr lang="en-US" b="1" i="0">
                <a:solidFill>
                  <a:srgbClr val="E53E3E"/>
                </a:solidFill>
                <a:effectLst/>
                <a:latin typeface="Segoe UI" panose="020B0502040204020203" pitchFamily="34" charset="0"/>
              </a:rPr>
              <a:t>Must pass both continuous and final assessment to pass the course</a:t>
            </a:r>
          </a:p>
          <a:p>
            <a:pPr algn="just">
              <a:buNone/>
            </a:pPr>
            <a:endParaRPr lang="en-US" b="0" i="0" dirty="0">
              <a:effectLst/>
              <a:latin typeface="Segoe UI" panose="020B0502040204020203" pitchFamily="34" charset="0"/>
            </a:endParaRPr>
          </a:p>
        </p:txBody>
      </p:sp>
      <p:graphicFrame>
        <p:nvGraphicFramePr>
          <p:cNvPr id="13" name="Table 12">
            <a:extLst>
              <a:ext uri="{FF2B5EF4-FFF2-40B4-BE49-F238E27FC236}">
                <a16:creationId xmlns:a16="http://schemas.microsoft.com/office/drawing/2014/main" id="{272F9BDA-0B4B-73FB-94AD-5E26FAD67FA5}"/>
              </a:ext>
            </a:extLst>
          </p:cNvPr>
          <p:cNvGraphicFramePr>
            <a:graphicFrameLocks noGrp="1"/>
          </p:cNvGraphicFramePr>
          <p:nvPr>
            <p:extLst>
              <p:ext uri="{D42A27DB-BD31-4B8C-83A1-F6EECF244321}">
                <p14:modId xmlns:p14="http://schemas.microsoft.com/office/powerpoint/2010/main" val="1033948423"/>
              </p:ext>
            </p:extLst>
          </p:nvPr>
        </p:nvGraphicFramePr>
        <p:xfrm>
          <a:off x="504471" y="1413471"/>
          <a:ext cx="7833987" cy="2464806"/>
        </p:xfrm>
        <a:graphic>
          <a:graphicData uri="http://schemas.openxmlformats.org/drawingml/2006/table">
            <a:tbl>
              <a:tblPr firstRow="1" bandRow="1">
                <a:tableStyleId>{5C22544A-7EE6-4342-B048-85BDC9FD1C3A}</a:tableStyleId>
              </a:tblPr>
              <a:tblGrid>
                <a:gridCol w="1941024">
                  <a:extLst>
                    <a:ext uri="{9D8B030D-6E8A-4147-A177-3AD203B41FA5}">
                      <a16:colId xmlns:a16="http://schemas.microsoft.com/office/drawing/2014/main" val="535371262"/>
                    </a:ext>
                  </a:extLst>
                </a:gridCol>
                <a:gridCol w="1925832">
                  <a:extLst>
                    <a:ext uri="{9D8B030D-6E8A-4147-A177-3AD203B41FA5}">
                      <a16:colId xmlns:a16="http://schemas.microsoft.com/office/drawing/2014/main" val="185112076"/>
                    </a:ext>
                  </a:extLst>
                </a:gridCol>
                <a:gridCol w="2554842">
                  <a:extLst>
                    <a:ext uri="{9D8B030D-6E8A-4147-A177-3AD203B41FA5}">
                      <a16:colId xmlns:a16="http://schemas.microsoft.com/office/drawing/2014/main" val="3305552820"/>
                    </a:ext>
                  </a:extLst>
                </a:gridCol>
                <a:gridCol w="1412289">
                  <a:extLst>
                    <a:ext uri="{9D8B030D-6E8A-4147-A177-3AD203B41FA5}">
                      <a16:colId xmlns:a16="http://schemas.microsoft.com/office/drawing/2014/main" val="1704568442"/>
                    </a:ext>
                  </a:extLst>
                </a:gridCol>
              </a:tblGrid>
              <a:tr h="736016">
                <a:tc>
                  <a:txBody>
                    <a:bodyPr/>
                    <a:lstStyle/>
                    <a:p>
                      <a:pPr marL="0" marR="57150" algn="l">
                        <a:lnSpc>
                          <a:spcPct val="150000"/>
                        </a:lnSpc>
                        <a:buNone/>
                      </a:pPr>
                      <a:r>
                        <a:rPr lang="en-US" sz="1400" b="1">
                          <a:effectLst/>
                          <a:latin typeface="Times New Roman" panose="02020603050405020304" pitchFamily="18" charset="0"/>
                          <a:cs typeface="Times New Roman" panose="02020603050405020304" pitchFamily="18" charset="0"/>
                        </a:rPr>
                        <a:t>No</a:t>
                      </a:r>
                      <a:endParaRPr lang="en-MY" sz="1400" b="1">
                        <a:effectLst/>
                        <a:latin typeface="Times New Roman" panose="02020603050405020304" pitchFamily="18" charset="0"/>
                        <a:cs typeface="Times New Roman" panose="02020603050405020304" pitchFamily="18" charset="0"/>
                      </a:endParaRPr>
                    </a:p>
                    <a:p>
                      <a:pPr marL="0" marR="57150" algn="l">
                        <a:lnSpc>
                          <a:spcPct val="150000"/>
                        </a:lnSpc>
                        <a:buNone/>
                      </a:pPr>
                      <a:r>
                        <a:rPr lang="en-US" sz="1400" b="1">
                          <a:effectLst/>
                          <a:latin typeface="Times New Roman" panose="02020603050405020304" pitchFamily="18" charset="0"/>
                          <a:cs typeface="Times New Roman" panose="02020603050405020304" pitchFamily="18" charset="0"/>
                        </a:rPr>
                        <a:t> </a:t>
                      </a:r>
                      <a:endParaRPr lang="en-MY"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tc gridSpan="2">
                  <a:txBody>
                    <a:bodyPr/>
                    <a:lstStyle/>
                    <a:p>
                      <a:pPr marL="0" marR="57150" algn="l">
                        <a:lnSpc>
                          <a:spcPct val="150000"/>
                        </a:lnSpc>
                        <a:buNone/>
                      </a:pPr>
                      <a:r>
                        <a:rPr lang="en-US" sz="1400" b="1" dirty="0">
                          <a:effectLst/>
                          <a:latin typeface="Times New Roman" panose="02020603050405020304" pitchFamily="18" charset="0"/>
                          <a:cs typeface="Times New Roman" panose="02020603050405020304" pitchFamily="18" charset="0"/>
                        </a:rPr>
                        <a:t>Description of coursework </a:t>
                      </a:r>
                      <a:endParaRPr lang="en-MY" sz="1400" b="1" dirty="0">
                        <a:effectLst/>
                        <a:latin typeface="Times New Roman" panose="02020603050405020304" pitchFamily="18" charset="0"/>
                        <a:cs typeface="Times New Roman" panose="02020603050405020304" pitchFamily="18" charset="0"/>
                      </a:endParaRPr>
                    </a:p>
                    <a:p>
                      <a:pPr marL="0" marR="57150" algn="l">
                        <a:lnSpc>
                          <a:spcPct val="150000"/>
                        </a:lnSpc>
                        <a:buNone/>
                      </a:pPr>
                      <a:r>
                        <a:rPr lang="en-US" sz="1400" b="1" dirty="0">
                          <a:effectLst/>
                          <a:latin typeface="Times New Roman" panose="02020603050405020304" pitchFamily="18" charset="0"/>
                          <a:cs typeface="Times New Roman" panose="02020603050405020304" pitchFamily="18" charset="0"/>
                        </a:rPr>
                        <a:t> </a:t>
                      </a:r>
                      <a:endParaRPr lang="en-MY"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tc hMerge="1">
                  <a:txBody>
                    <a:bodyPr/>
                    <a:lstStyle/>
                    <a:p>
                      <a:pPr marL="0" marR="57150" algn="l">
                        <a:lnSpc>
                          <a:spcPct val="150000"/>
                        </a:lnSpc>
                        <a:buNone/>
                      </a:pPr>
                      <a:endParaRPr lang="en-MY"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tc>
                  <a:txBody>
                    <a:bodyPr/>
                    <a:lstStyle/>
                    <a:p>
                      <a:pPr marL="0" marR="57150" algn="l">
                        <a:lnSpc>
                          <a:spcPct val="150000"/>
                        </a:lnSpc>
                        <a:buNone/>
                      </a:pPr>
                      <a:r>
                        <a:rPr lang="en-US" sz="1400" b="1">
                          <a:effectLst/>
                          <a:latin typeface="Times New Roman" panose="02020603050405020304" pitchFamily="18" charset="0"/>
                          <a:cs typeface="Times New Roman" panose="02020603050405020304" pitchFamily="18" charset="0"/>
                        </a:rPr>
                        <a:t>Marks allocated</a:t>
                      </a:r>
                      <a:endParaRPr lang="en-MY" sz="1400" b="1">
                        <a:effectLst/>
                        <a:latin typeface="Times New Roman" panose="02020603050405020304" pitchFamily="18" charset="0"/>
                        <a:cs typeface="Times New Roman" panose="02020603050405020304" pitchFamily="18" charset="0"/>
                      </a:endParaRPr>
                    </a:p>
                    <a:p>
                      <a:pPr marL="0" marR="57150" algn="l">
                        <a:lnSpc>
                          <a:spcPct val="150000"/>
                        </a:lnSpc>
                        <a:buNone/>
                      </a:pPr>
                      <a:r>
                        <a:rPr lang="en-US" sz="1400" b="1">
                          <a:effectLst/>
                          <a:latin typeface="Times New Roman" panose="02020603050405020304" pitchFamily="18" charset="0"/>
                          <a:cs typeface="Times New Roman" panose="02020603050405020304" pitchFamily="18" charset="0"/>
                        </a:rPr>
                        <a:t> </a:t>
                      </a:r>
                      <a:endParaRPr lang="en-MY"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extLst>
                  <a:ext uri="{0D108BD9-81ED-4DB2-BD59-A6C34878D82A}">
                    <a16:rowId xmlns:a16="http://schemas.microsoft.com/office/drawing/2014/main" val="44909681"/>
                  </a:ext>
                </a:extLst>
              </a:tr>
              <a:tr h="224931">
                <a:tc>
                  <a:txBody>
                    <a:bodyPr/>
                    <a:lstStyle/>
                    <a:p>
                      <a:pPr marL="0" marR="57150" algn="l">
                        <a:lnSpc>
                          <a:spcPct val="150000"/>
                        </a:lnSpc>
                        <a:buNone/>
                      </a:pPr>
                      <a:r>
                        <a:rPr lang="en-US" sz="1400" b="1" dirty="0">
                          <a:effectLst/>
                          <a:latin typeface="Times New Roman" panose="02020603050405020304" pitchFamily="18" charset="0"/>
                          <a:cs typeface="Times New Roman" panose="02020603050405020304" pitchFamily="18" charset="0"/>
                        </a:rPr>
                        <a:t>1</a:t>
                      </a:r>
                      <a:endParaRPr lang="en-MY"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tc gridSpan="2">
                  <a:txBody>
                    <a:bodyPr/>
                    <a:lstStyle/>
                    <a:p>
                      <a:pPr marL="0" marR="57150" algn="l">
                        <a:lnSpc>
                          <a:spcPct val="150000"/>
                        </a:lnSpc>
                        <a:buNone/>
                      </a:pPr>
                      <a:r>
                        <a:rPr lang="en-US" sz="1400" b="1" dirty="0">
                          <a:effectLst/>
                          <a:latin typeface="Times New Roman" panose="02020603050405020304" pitchFamily="18" charset="0"/>
                          <a:cs typeface="Times New Roman" panose="02020603050405020304" pitchFamily="18" charset="0"/>
                        </a:rPr>
                        <a:t>Test </a:t>
                      </a:r>
                    </a:p>
                  </a:txBody>
                  <a:tcPr marL="32825" marR="32825" marT="0" marB="0"/>
                </a:tc>
                <a:tc hMerge="1">
                  <a:txBody>
                    <a:bodyPr/>
                    <a:lstStyle/>
                    <a:p>
                      <a:pPr marL="0" marR="57150" algn="l">
                        <a:lnSpc>
                          <a:spcPct val="150000"/>
                        </a:lnSpc>
                        <a:buNone/>
                      </a:pPr>
                      <a:endParaRPr lang="en-MY"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tc>
                  <a:txBody>
                    <a:bodyPr/>
                    <a:lstStyle/>
                    <a:p>
                      <a:pPr marL="0" marR="57150" algn="l">
                        <a:lnSpc>
                          <a:spcPct val="150000"/>
                        </a:lnSpc>
                        <a:buNone/>
                      </a:pPr>
                      <a:r>
                        <a:rPr lang="en-US" sz="1400" b="1" dirty="0">
                          <a:effectLst/>
                          <a:latin typeface="Times New Roman" panose="02020603050405020304" pitchFamily="18" charset="0"/>
                          <a:cs typeface="Times New Roman" panose="02020603050405020304" pitchFamily="18" charset="0"/>
                        </a:rPr>
                        <a:t>20%</a:t>
                      </a:r>
                      <a:endParaRPr lang="en-MY"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extLst>
                  <a:ext uri="{0D108BD9-81ED-4DB2-BD59-A6C34878D82A}">
                    <a16:rowId xmlns:a16="http://schemas.microsoft.com/office/drawing/2014/main" val="3813473536"/>
                  </a:ext>
                </a:extLst>
              </a:tr>
              <a:tr h="224931">
                <a:tc>
                  <a:txBody>
                    <a:bodyPr/>
                    <a:lstStyle/>
                    <a:p>
                      <a:pPr marL="0" marR="57150" algn="l">
                        <a:lnSpc>
                          <a:spcPct val="150000"/>
                        </a:lnSpc>
                        <a:buNone/>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MY"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tc>
                  <a:txBody>
                    <a:bodyPr/>
                    <a:lstStyle/>
                    <a:p>
                      <a:pPr marL="0" marR="57150" algn="l">
                        <a:lnSpc>
                          <a:spcPct val="150000"/>
                        </a:lnSpc>
                        <a:buNone/>
                      </a:pPr>
                      <a:r>
                        <a:rPr lang="en-US" sz="1400" b="1" dirty="0">
                          <a:effectLst/>
                          <a:latin typeface="Times New Roman" panose="02020603050405020304" pitchFamily="18" charset="0"/>
                          <a:cs typeface="Times New Roman" panose="02020603050405020304" pitchFamily="18" charset="0"/>
                        </a:rPr>
                        <a:t>Group Assignment </a:t>
                      </a:r>
                      <a:endParaRPr lang="en-MY"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tc>
                  <a:txBody>
                    <a:bodyPr/>
                    <a:lstStyle/>
                    <a:p>
                      <a:pPr marL="0" marR="57150" algn="l">
                        <a:lnSpc>
                          <a:spcPct val="150000"/>
                        </a:lnSpc>
                        <a:buNone/>
                      </a:pPr>
                      <a:endParaRPr lang="en-MY"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tc>
                  <a:txBody>
                    <a:bodyPr/>
                    <a:lstStyle/>
                    <a:p>
                      <a:pPr marL="0" marR="57150" algn="l">
                        <a:lnSpc>
                          <a:spcPct val="150000"/>
                        </a:lnSpc>
                        <a:buNone/>
                      </a:pPr>
                      <a:r>
                        <a:rPr lang="en-US" sz="1400" b="1" dirty="0">
                          <a:effectLst/>
                          <a:latin typeface="Times New Roman" panose="02020603050405020304" pitchFamily="18" charset="0"/>
                          <a:cs typeface="Times New Roman" panose="02020603050405020304" pitchFamily="18" charset="0"/>
                        </a:rPr>
                        <a:t>40%</a:t>
                      </a:r>
                      <a:endParaRPr lang="en-MY"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extLst>
                  <a:ext uri="{0D108BD9-81ED-4DB2-BD59-A6C34878D82A}">
                    <a16:rowId xmlns:a16="http://schemas.microsoft.com/office/drawing/2014/main" val="3137178763"/>
                  </a:ext>
                </a:extLst>
              </a:tr>
              <a:tr h="480473">
                <a:tc>
                  <a:txBody>
                    <a:bodyPr/>
                    <a:lstStyle/>
                    <a:p>
                      <a:pPr marL="0" marR="57150" algn="l">
                        <a:lnSpc>
                          <a:spcPct val="150000"/>
                        </a:lnSpc>
                        <a:buNone/>
                      </a:pPr>
                      <a:r>
                        <a:rPr lang="en-US" sz="1400" b="1">
                          <a:effectLst/>
                          <a:latin typeface="Times New Roman" panose="02020603050405020304" pitchFamily="18" charset="0"/>
                          <a:cs typeface="Times New Roman" panose="02020603050405020304" pitchFamily="18" charset="0"/>
                        </a:rPr>
                        <a:t> </a:t>
                      </a:r>
                      <a:endParaRPr lang="en-MY"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tc gridSpan="2">
                  <a:txBody>
                    <a:bodyPr/>
                    <a:lstStyle/>
                    <a:p>
                      <a:pPr marL="0" marR="57150" algn="r">
                        <a:lnSpc>
                          <a:spcPct val="150000"/>
                        </a:lnSpc>
                        <a:buNone/>
                      </a:pPr>
                      <a:r>
                        <a:rPr lang="en-US" sz="1400" b="1" dirty="0">
                          <a:effectLst/>
                          <a:latin typeface="Times New Roman" panose="02020603050405020304" pitchFamily="18" charset="0"/>
                          <a:cs typeface="Times New Roman" panose="02020603050405020304" pitchFamily="18" charset="0"/>
                        </a:rPr>
                        <a:t>CONTRIBUTION OF THE COURSEWORK TO THE COURSE </a:t>
                      </a:r>
                      <a:endParaRPr lang="en-MY"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tc hMerge="1">
                  <a:txBody>
                    <a:bodyPr/>
                    <a:lstStyle/>
                    <a:p>
                      <a:endParaRPr lang="en-MY"/>
                    </a:p>
                  </a:txBody>
                  <a:tcPr/>
                </a:tc>
                <a:tc>
                  <a:txBody>
                    <a:bodyPr/>
                    <a:lstStyle/>
                    <a:p>
                      <a:pPr marL="0" marR="57150" algn="l">
                        <a:lnSpc>
                          <a:spcPct val="150000"/>
                        </a:lnSpc>
                        <a:buNone/>
                      </a:pPr>
                      <a:r>
                        <a:rPr lang="en-US" sz="1400" b="1">
                          <a:effectLst/>
                          <a:latin typeface="Times New Roman" panose="02020603050405020304" pitchFamily="18" charset="0"/>
                          <a:cs typeface="Times New Roman" panose="02020603050405020304" pitchFamily="18" charset="0"/>
                        </a:rPr>
                        <a:t>60%</a:t>
                      </a:r>
                      <a:endParaRPr lang="en-MY"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extLst>
                  <a:ext uri="{0D108BD9-81ED-4DB2-BD59-A6C34878D82A}">
                    <a16:rowId xmlns:a16="http://schemas.microsoft.com/office/drawing/2014/main" val="4153077099"/>
                  </a:ext>
                </a:extLst>
              </a:tr>
              <a:tr h="224931">
                <a:tc>
                  <a:txBody>
                    <a:bodyPr/>
                    <a:lstStyle/>
                    <a:p>
                      <a:pPr marL="0" marR="0" algn="l">
                        <a:lnSpc>
                          <a:spcPct val="150000"/>
                        </a:lnSpc>
                        <a:buNone/>
                      </a:pPr>
                      <a:r>
                        <a:rPr lang="en-US" sz="1400" b="1">
                          <a:effectLst/>
                          <a:latin typeface="Times New Roman" panose="02020603050405020304" pitchFamily="18" charset="0"/>
                          <a:cs typeface="Times New Roman" panose="02020603050405020304" pitchFamily="18" charset="0"/>
                        </a:rPr>
                        <a:t> </a:t>
                      </a:r>
                      <a:endParaRPr lang="en-MY"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tc gridSpan="2">
                  <a:txBody>
                    <a:bodyPr/>
                    <a:lstStyle/>
                    <a:p>
                      <a:pPr marL="0" marR="57150" algn="l">
                        <a:lnSpc>
                          <a:spcPct val="150000"/>
                        </a:lnSpc>
                        <a:buNone/>
                      </a:pPr>
                      <a:r>
                        <a:rPr lang="en-MY" sz="1400" b="1" dirty="0">
                          <a:effectLst/>
                          <a:latin typeface="Times New Roman" panose="02020603050405020304" pitchFamily="18" charset="0"/>
                          <a:ea typeface="Times New Roman" panose="02020603050405020304" pitchFamily="18" charset="0"/>
                          <a:cs typeface="Times New Roman" panose="02020603050405020304" pitchFamily="18" charset="0"/>
                        </a:rPr>
                        <a:t>Individual Assignment </a:t>
                      </a:r>
                    </a:p>
                  </a:txBody>
                  <a:tcPr marL="32825" marR="32825" marT="0" marB="0"/>
                </a:tc>
                <a:tc hMerge="1">
                  <a:txBody>
                    <a:bodyPr/>
                    <a:lstStyle/>
                    <a:p>
                      <a:endParaRPr lang="en-MY"/>
                    </a:p>
                  </a:txBody>
                  <a:tcPr/>
                </a:tc>
                <a:tc>
                  <a:txBody>
                    <a:bodyPr/>
                    <a:lstStyle/>
                    <a:p>
                      <a:pPr marL="0" marR="0" algn="l">
                        <a:lnSpc>
                          <a:spcPct val="150000"/>
                        </a:lnSpc>
                        <a:buNone/>
                      </a:pPr>
                      <a:r>
                        <a:rPr lang="en-US" sz="1400" b="1">
                          <a:effectLst/>
                          <a:latin typeface="Times New Roman" panose="02020603050405020304" pitchFamily="18" charset="0"/>
                          <a:cs typeface="Times New Roman" panose="02020603050405020304" pitchFamily="18" charset="0"/>
                        </a:rPr>
                        <a:t>40%</a:t>
                      </a:r>
                      <a:endParaRPr lang="en-MY"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extLst>
                  <a:ext uri="{0D108BD9-81ED-4DB2-BD59-A6C34878D82A}">
                    <a16:rowId xmlns:a16="http://schemas.microsoft.com/office/drawing/2014/main" val="1443388485"/>
                  </a:ext>
                </a:extLst>
              </a:tr>
              <a:tr h="224931">
                <a:tc>
                  <a:txBody>
                    <a:bodyPr/>
                    <a:lstStyle/>
                    <a:p>
                      <a:pPr marL="0" marR="0" algn="l">
                        <a:lnSpc>
                          <a:spcPct val="150000"/>
                        </a:lnSpc>
                        <a:buNone/>
                      </a:pPr>
                      <a:r>
                        <a:rPr lang="en-US" sz="1400" b="1">
                          <a:effectLst/>
                          <a:latin typeface="Times New Roman" panose="02020603050405020304" pitchFamily="18" charset="0"/>
                          <a:cs typeface="Times New Roman" panose="02020603050405020304" pitchFamily="18" charset="0"/>
                        </a:rPr>
                        <a:t> </a:t>
                      </a:r>
                      <a:endParaRPr lang="en-MY"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tc gridSpan="2">
                  <a:txBody>
                    <a:bodyPr/>
                    <a:lstStyle/>
                    <a:p>
                      <a:pPr marL="0" marR="57150" algn="r">
                        <a:lnSpc>
                          <a:spcPct val="150000"/>
                        </a:lnSpc>
                        <a:buNone/>
                      </a:pPr>
                      <a:r>
                        <a:rPr lang="en-US" sz="1400" b="1" dirty="0">
                          <a:effectLst/>
                          <a:latin typeface="Times New Roman" panose="02020603050405020304" pitchFamily="18" charset="0"/>
                          <a:cs typeface="Times New Roman" panose="02020603050405020304" pitchFamily="18" charset="0"/>
                        </a:rPr>
                        <a:t>TOTAL</a:t>
                      </a:r>
                      <a:endParaRPr lang="en-MY"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tc hMerge="1">
                  <a:txBody>
                    <a:bodyPr/>
                    <a:lstStyle/>
                    <a:p>
                      <a:endParaRPr lang="en-MY"/>
                    </a:p>
                  </a:txBody>
                  <a:tcPr/>
                </a:tc>
                <a:tc>
                  <a:txBody>
                    <a:bodyPr/>
                    <a:lstStyle/>
                    <a:p>
                      <a:pPr marL="0" marR="0" algn="l">
                        <a:lnSpc>
                          <a:spcPct val="150000"/>
                        </a:lnSpc>
                        <a:buNone/>
                      </a:pPr>
                      <a:r>
                        <a:rPr lang="en-US" sz="1400" b="1" dirty="0">
                          <a:effectLst/>
                          <a:latin typeface="Times New Roman" panose="02020603050405020304" pitchFamily="18" charset="0"/>
                          <a:cs typeface="Times New Roman" panose="02020603050405020304" pitchFamily="18" charset="0"/>
                        </a:rPr>
                        <a:t>100%</a:t>
                      </a:r>
                      <a:endParaRPr lang="en-MY"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2825" marR="32825" marT="0" marB="0"/>
                </a:tc>
                <a:extLst>
                  <a:ext uri="{0D108BD9-81ED-4DB2-BD59-A6C34878D82A}">
                    <a16:rowId xmlns:a16="http://schemas.microsoft.com/office/drawing/2014/main" val="3887746287"/>
                  </a:ext>
                </a:extLst>
              </a:tr>
            </a:tbl>
          </a:graphicData>
        </a:graphic>
      </p:graphicFrame>
      <p:sp>
        <p:nvSpPr>
          <p:cNvPr id="19" name="TextBox 18">
            <a:extLst>
              <a:ext uri="{FF2B5EF4-FFF2-40B4-BE49-F238E27FC236}">
                <a16:creationId xmlns:a16="http://schemas.microsoft.com/office/drawing/2014/main" id="{0880540E-FBE0-51AE-26F5-19E4F79541BE}"/>
              </a:ext>
            </a:extLst>
          </p:cNvPr>
          <p:cNvSpPr txBox="1"/>
          <p:nvPr/>
        </p:nvSpPr>
        <p:spPr>
          <a:xfrm>
            <a:off x="722186" y="677507"/>
            <a:ext cx="4572000" cy="523220"/>
          </a:xfrm>
          <a:prstGeom prst="rect">
            <a:avLst/>
          </a:prstGeom>
          <a:noFill/>
        </p:spPr>
        <p:txBody>
          <a:bodyPr wrap="square">
            <a:spAutoFit/>
          </a:bodyPr>
          <a:lstStyle/>
          <a:p>
            <a:r>
              <a:rPr lang="en-US" sz="2800" b="1" i="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course structure</a:t>
            </a:r>
            <a:endParaRPr lang="en-MY"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707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C9B8B-9CDD-4BE3-B03C-095EDAD33C96}"/>
              </a:ext>
            </a:extLst>
          </p:cNvPr>
          <p:cNvSpPr>
            <a:spLocks noGrp="1"/>
          </p:cNvSpPr>
          <p:nvPr>
            <p:ph type="title"/>
          </p:nvPr>
        </p:nvSpPr>
        <p:spPr/>
        <p:txBody>
          <a:bodyPr>
            <a:normAutofit fontScale="90000"/>
          </a:bodyPr>
          <a:lstStyle/>
          <a:p>
            <a:r>
              <a:rPr lang="en-GB" b="1" dirty="0">
                <a:latin typeface="Times New Roman" panose="02020603050405020304" pitchFamily="18" charset="0"/>
                <a:cs typeface="Times New Roman" panose="02020603050405020304" pitchFamily="18" charset="0"/>
              </a:rPr>
              <a:t>Learning Outcomes</a:t>
            </a:r>
            <a:endParaRPr lang="en-GB" b="1" dirty="0"/>
          </a:p>
        </p:txBody>
      </p:sp>
      <p:sp>
        <p:nvSpPr>
          <p:cNvPr id="4" name="Slide Number Placeholder 3">
            <a:extLst>
              <a:ext uri="{FF2B5EF4-FFF2-40B4-BE49-F238E27FC236}">
                <a16:creationId xmlns:a16="http://schemas.microsoft.com/office/drawing/2014/main" id="{37CA81D6-0C83-450D-A86C-058E616160E7}"/>
              </a:ext>
            </a:extLst>
          </p:cNvPr>
          <p:cNvSpPr>
            <a:spLocks noGrp="1"/>
          </p:cNvSpPr>
          <p:nvPr>
            <p:ph type="sldNum" sz="quarter" idx="12"/>
          </p:nvPr>
        </p:nvSpPr>
        <p:spPr/>
        <p:txBody>
          <a:bodyPr/>
          <a:lstStyle/>
          <a:p>
            <a:fld id="{C1FF6DA9-008F-8B48-92A6-B652298478BF}" type="slidenum">
              <a:rPr lang="en-US" smtClean="0"/>
              <a:t>3</a:t>
            </a:fld>
            <a:endParaRPr lang="en-US"/>
          </a:p>
        </p:txBody>
      </p:sp>
      <p:sp>
        <p:nvSpPr>
          <p:cNvPr id="6" name="Rectangle 2">
            <a:extLst>
              <a:ext uri="{FF2B5EF4-FFF2-40B4-BE49-F238E27FC236}">
                <a16:creationId xmlns:a16="http://schemas.microsoft.com/office/drawing/2014/main" id="{A1CCA579-10BE-4951-BFDD-B12EF6A82BCD}"/>
              </a:ext>
            </a:extLst>
          </p:cNvPr>
          <p:cNvSpPr>
            <a:spLocks noChangeArrowheads="1"/>
          </p:cNvSpPr>
          <p:nvPr/>
        </p:nvSpPr>
        <p:spPr bwMode="auto">
          <a:xfrm>
            <a:off x="581192" y="2741171"/>
            <a:ext cx="6197295" cy="838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endParaRPr lang="en-US" alt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09403B2-2743-0A69-ADD4-B9DFB84C716B}"/>
              </a:ext>
            </a:extLst>
          </p:cNvPr>
          <p:cNvSpPr txBox="1"/>
          <p:nvPr/>
        </p:nvSpPr>
        <p:spPr>
          <a:xfrm>
            <a:off x="436370" y="1496087"/>
            <a:ext cx="8271259" cy="3329116"/>
          </a:xfrm>
          <a:prstGeom prst="rect">
            <a:avLst/>
          </a:prstGeom>
          <a:noFill/>
        </p:spPr>
        <p:txBody>
          <a:bodyPr wrap="square">
            <a:spAutoFit/>
          </a:bodyPr>
          <a:lstStyle/>
          <a:p>
            <a:pPr marL="457200" indent="-457200" algn="just">
              <a:spcAft>
                <a:spcPts val="1125"/>
              </a:spcAft>
              <a:buFont typeface="Wingdings" panose="05000000000000000000" pitchFamily="2" charset="2"/>
              <a:buChar char="§"/>
            </a:pPr>
            <a:r>
              <a:rPr lang="en-US" sz="3200" b="0" i="0" dirty="0">
                <a:solidFill>
                  <a:srgbClr val="4A5568"/>
                </a:solidFill>
                <a:effectLst/>
                <a:latin typeface="Times New Roman" panose="02020603050405020304" pitchFamily="18" charset="0"/>
                <a:cs typeface="Times New Roman" panose="02020603050405020304" pitchFamily="18" charset="0"/>
              </a:rPr>
              <a:t>Understanding AI concepts, principles and algorithms in modern computer systems.</a:t>
            </a:r>
          </a:p>
          <a:p>
            <a:pPr marL="457200" indent="-457200" algn="just">
              <a:spcAft>
                <a:spcPts val="1125"/>
              </a:spcAft>
              <a:buFont typeface="Wingdings" panose="05000000000000000000" pitchFamily="2" charset="2"/>
              <a:buChar char="§"/>
            </a:pPr>
            <a:r>
              <a:rPr lang="en-US" sz="3200" b="0" i="0" dirty="0">
                <a:solidFill>
                  <a:srgbClr val="4A5568"/>
                </a:solidFill>
                <a:effectLst/>
                <a:latin typeface="Times New Roman" panose="02020603050405020304" pitchFamily="18" charset="0"/>
                <a:cs typeface="Times New Roman" panose="02020603050405020304" pitchFamily="18" charset="0"/>
              </a:rPr>
              <a:t>Evaluate various AI techniques to solve real-world problems.</a:t>
            </a:r>
          </a:p>
          <a:p>
            <a:pPr marL="457200" indent="-457200" algn="just">
              <a:spcAft>
                <a:spcPts val="1125"/>
              </a:spcAft>
              <a:buFont typeface="Wingdings" panose="05000000000000000000" pitchFamily="2" charset="2"/>
              <a:buChar char="§"/>
            </a:pPr>
            <a:r>
              <a:rPr lang="en-US" sz="3200" b="0" i="0" dirty="0">
                <a:solidFill>
                  <a:srgbClr val="4A5568"/>
                </a:solidFill>
                <a:effectLst/>
                <a:latin typeface="Times New Roman" panose="02020603050405020304" pitchFamily="18" charset="0"/>
                <a:cs typeface="Times New Roman" panose="02020603050405020304" pitchFamily="18" charset="0"/>
              </a:rPr>
              <a:t>Build intelligent system applications using appropriate frameworks.</a:t>
            </a:r>
          </a:p>
        </p:txBody>
      </p:sp>
    </p:spTree>
    <p:extLst>
      <p:ext uri="{BB962C8B-B14F-4D97-AF65-F5344CB8AC3E}">
        <p14:creationId xmlns:p14="http://schemas.microsoft.com/office/powerpoint/2010/main" val="1923596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C9B8B-9CDD-4BE3-B03C-095EDAD33C96}"/>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Introduction</a:t>
            </a:r>
            <a:r>
              <a:rPr lang="en-US" dirty="0"/>
              <a:t>  </a:t>
            </a:r>
            <a:endParaRPr lang="en-GB" dirty="0"/>
          </a:p>
        </p:txBody>
      </p:sp>
      <p:sp>
        <p:nvSpPr>
          <p:cNvPr id="4" name="Slide Number Placeholder 3">
            <a:extLst>
              <a:ext uri="{FF2B5EF4-FFF2-40B4-BE49-F238E27FC236}">
                <a16:creationId xmlns:a16="http://schemas.microsoft.com/office/drawing/2014/main" id="{37CA81D6-0C83-450D-A86C-058E616160E7}"/>
              </a:ext>
            </a:extLst>
          </p:cNvPr>
          <p:cNvSpPr>
            <a:spLocks noGrp="1"/>
          </p:cNvSpPr>
          <p:nvPr>
            <p:ph type="sldNum" sz="quarter" idx="12"/>
          </p:nvPr>
        </p:nvSpPr>
        <p:spPr/>
        <p:txBody>
          <a:bodyPr/>
          <a:lstStyle/>
          <a:p>
            <a:fld id="{C1FF6DA9-008F-8B48-92A6-B652298478BF}" type="slidenum">
              <a:rPr lang="en-US" smtClean="0"/>
              <a:t>4</a:t>
            </a:fld>
            <a:endParaRPr lang="en-US"/>
          </a:p>
        </p:txBody>
      </p:sp>
      <p:sp>
        <p:nvSpPr>
          <p:cNvPr id="6" name="Content Placeholder 2">
            <a:extLst>
              <a:ext uri="{FF2B5EF4-FFF2-40B4-BE49-F238E27FC236}">
                <a16:creationId xmlns:a16="http://schemas.microsoft.com/office/drawing/2014/main" id="{CA1B5F9B-E22A-C0F2-EFBB-E114D345D08E}"/>
              </a:ext>
            </a:extLst>
          </p:cNvPr>
          <p:cNvSpPr>
            <a:spLocks noGrp="1"/>
          </p:cNvSpPr>
          <p:nvPr>
            <p:ph idx="1"/>
          </p:nvPr>
        </p:nvSpPr>
        <p:spPr>
          <a:xfrm>
            <a:off x="696684" y="2558141"/>
            <a:ext cx="8599715" cy="2046515"/>
          </a:xfrm>
        </p:spPr>
        <p:txBody>
          <a:bodyPr/>
          <a:lstStyle/>
          <a:p>
            <a:pPr marL="0" indent="0">
              <a:buNone/>
            </a:pPr>
            <a:r>
              <a:rPr lang="en-US" b="1" dirty="0">
                <a:latin typeface="Times New Roman" panose="02020603050405020304" pitchFamily="18" charset="0"/>
                <a:cs typeface="Times New Roman" panose="02020603050405020304" pitchFamily="18" charset="0"/>
              </a:rPr>
              <a:t>What’s the first thing that comes to mind when you hear ‘Artificial Intelligence’?</a:t>
            </a:r>
            <a:endParaRPr lang="en-US" b="1" dirty="0"/>
          </a:p>
        </p:txBody>
      </p:sp>
    </p:spTree>
    <p:extLst>
      <p:ext uri="{BB962C8B-B14F-4D97-AF65-F5344CB8AC3E}">
        <p14:creationId xmlns:p14="http://schemas.microsoft.com/office/powerpoint/2010/main" val="2832475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EE110-96DE-7E5B-A145-51225C863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AE299-3AA7-C05B-09B3-8A8DC123C0E8}"/>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Introduction</a:t>
            </a:r>
            <a:r>
              <a:rPr lang="en-US" dirty="0"/>
              <a:t>  </a:t>
            </a:r>
            <a:endParaRPr lang="en-GB" dirty="0"/>
          </a:p>
        </p:txBody>
      </p:sp>
      <p:sp>
        <p:nvSpPr>
          <p:cNvPr id="4" name="Slide Number Placeholder 3">
            <a:extLst>
              <a:ext uri="{FF2B5EF4-FFF2-40B4-BE49-F238E27FC236}">
                <a16:creationId xmlns:a16="http://schemas.microsoft.com/office/drawing/2014/main" id="{34E0EBC9-FBDD-3A69-58E2-92D083C05D60}"/>
              </a:ext>
            </a:extLst>
          </p:cNvPr>
          <p:cNvSpPr>
            <a:spLocks noGrp="1"/>
          </p:cNvSpPr>
          <p:nvPr>
            <p:ph type="sldNum" sz="quarter" idx="12"/>
          </p:nvPr>
        </p:nvSpPr>
        <p:spPr/>
        <p:txBody>
          <a:bodyPr/>
          <a:lstStyle/>
          <a:p>
            <a:fld id="{C1FF6DA9-008F-8B48-92A6-B652298478BF}" type="slidenum">
              <a:rPr lang="en-US" smtClean="0"/>
              <a:t>5</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D7E0B3EC-E66A-D3A3-32FC-754F04265F28}"/>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Content Placeholder 2">
            <a:extLst>
              <a:ext uri="{FF2B5EF4-FFF2-40B4-BE49-F238E27FC236}">
                <a16:creationId xmlns:a16="http://schemas.microsoft.com/office/drawing/2014/main" id="{9EDE5932-B7E9-B5BD-95B2-29E57DA0E35A}"/>
              </a:ext>
            </a:extLst>
          </p:cNvPr>
          <p:cNvSpPr>
            <a:spLocks noGrp="1"/>
          </p:cNvSpPr>
          <p:nvPr>
            <p:ph idx="1"/>
          </p:nvPr>
        </p:nvSpPr>
        <p:spPr>
          <a:xfrm>
            <a:off x="1163250" y="2405742"/>
            <a:ext cx="7689201" cy="2046515"/>
          </a:xfrm>
        </p:spPr>
        <p:txBody>
          <a:bodyPr/>
          <a:lstStyle/>
          <a:p>
            <a:pPr marL="0" indent="0">
              <a:buNone/>
            </a:pPr>
            <a:r>
              <a:rPr lang="en-US" b="1" dirty="0">
                <a:latin typeface="Times New Roman" panose="02020603050405020304" pitchFamily="18" charset="0"/>
                <a:cs typeface="Times New Roman" panose="02020603050405020304" pitchFamily="18" charset="0"/>
              </a:rPr>
              <a:t>What we mean by  Intelligence ?</a:t>
            </a:r>
          </a:p>
          <a:p>
            <a:pPr marL="0" indent="0">
              <a:buNone/>
            </a:pPr>
            <a:endParaRPr lang="en-US" dirty="0"/>
          </a:p>
        </p:txBody>
      </p:sp>
    </p:spTree>
    <p:extLst>
      <p:ext uri="{BB962C8B-B14F-4D97-AF65-F5344CB8AC3E}">
        <p14:creationId xmlns:p14="http://schemas.microsoft.com/office/powerpoint/2010/main" val="3445500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6737D-9BBE-ED90-604A-28E3C7B321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514D68-166E-9E64-F97B-7FFF10806BA3}"/>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Introduction</a:t>
            </a:r>
            <a:r>
              <a:rPr lang="en-US" dirty="0"/>
              <a:t>  </a:t>
            </a:r>
            <a:endParaRPr lang="en-GB" dirty="0"/>
          </a:p>
        </p:txBody>
      </p:sp>
      <p:sp>
        <p:nvSpPr>
          <p:cNvPr id="4" name="Slide Number Placeholder 3">
            <a:extLst>
              <a:ext uri="{FF2B5EF4-FFF2-40B4-BE49-F238E27FC236}">
                <a16:creationId xmlns:a16="http://schemas.microsoft.com/office/drawing/2014/main" id="{B91AB3D9-A68A-D3D6-B7AB-52DF815D9D2E}"/>
              </a:ext>
            </a:extLst>
          </p:cNvPr>
          <p:cNvSpPr>
            <a:spLocks noGrp="1"/>
          </p:cNvSpPr>
          <p:nvPr>
            <p:ph type="sldNum" sz="quarter" idx="12"/>
          </p:nvPr>
        </p:nvSpPr>
        <p:spPr/>
        <p:txBody>
          <a:bodyPr/>
          <a:lstStyle/>
          <a:p>
            <a:fld id="{C1FF6DA9-008F-8B48-92A6-B652298478BF}" type="slidenum">
              <a:rPr lang="en-US" smtClean="0"/>
              <a:t>6</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1467B686-985A-CF8A-DD7B-BC6A59B509F8}"/>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TextBox 4">
            <a:extLst>
              <a:ext uri="{FF2B5EF4-FFF2-40B4-BE49-F238E27FC236}">
                <a16:creationId xmlns:a16="http://schemas.microsoft.com/office/drawing/2014/main" id="{330C00DC-70C4-BC59-7CC8-F4CE0FB8E933}"/>
              </a:ext>
            </a:extLst>
          </p:cNvPr>
          <p:cNvSpPr txBox="1"/>
          <p:nvPr/>
        </p:nvSpPr>
        <p:spPr>
          <a:xfrm>
            <a:off x="581193" y="3105835"/>
            <a:ext cx="7500790" cy="369332"/>
          </a:xfrm>
          <a:prstGeom prst="rect">
            <a:avLst/>
          </a:prstGeom>
          <a:noFill/>
        </p:spPr>
        <p:txBody>
          <a:bodyPr wrap="square">
            <a:spAutoFit/>
          </a:bodyPr>
          <a:lstStyle/>
          <a:p>
            <a:r>
              <a:rPr lang="en-US" b="1" dirty="0">
                <a:solidFill>
                  <a:srgbClr val="404040"/>
                </a:solidFill>
                <a:effectLst/>
                <a:latin typeface="Times New Roman" panose="02020603050405020304" pitchFamily="18" charset="0"/>
                <a:cs typeface="Times New Roman" panose="02020603050405020304" pitchFamily="18" charset="0"/>
              </a:rPr>
              <a:t>Can you name an AI tool or app you’ve used recently? How does it work?</a:t>
            </a:r>
            <a:endParaRPr lang="en-MY"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5268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0EED0-E3BE-E4EB-AF7A-ABF7A439E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C3CF0-FDC8-AA24-F52B-9475A75F6FBA}"/>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Introduction</a:t>
            </a:r>
            <a:r>
              <a:rPr lang="en-US" dirty="0"/>
              <a:t>  </a:t>
            </a:r>
            <a:endParaRPr lang="en-GB" dirty="0"/>
          </a:p>
        </p:txBody>
      </p:sp>
      <p:sp>
        <p:nvSpPr>
          <p:cNvPr id="4" name="Slide Number Placeholder 3">
            <a:extLst>
              <a:ext uri="{FF2B5EF4-FFF2-40B4-BE49-F238E27FC236}">
                <a16:creationId xmlns:a16="http://schemas.microsoft.com/office/drawing/2014/main" id="{262C5A8A-5B7C-2A5D-0E63-23A165362BA1}"/>
              </a:ext>
            </a:extLst>
          </p:cNvPr>
          <p:cNvSpPr>
            <a:spLocks noGrp="1"/>
          </p:cNvSpPr>
          <p:nvPr>
            <p:ph type="sldNum" sz="quarter" idx="12"/>
          </p:nvPr>
        </p:nvSpPr>
        <p:spPr/>
        <p:txBody>
          <a:bodyPr/>
          <a:lstStyle/>
          <a:p>
            <a:fld id="{C1FF6DA9-008F-8B48-92A6-B652298478BF}" type="slidenum">
              <a:rPr lang="en-US" smtClean="0"/>
              <a:t>7</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A59C2A39-184E-3F5A-0D24-9184AA1511AC}"/>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TextBox 4">
            <a:extLst>
              <a:ext uri="{FF2B5EF4-FFF2-40B4-BE49-F238E27FC236}">
                <a16:creationId xmlns:a16="http://schemas.microsoft.com/office/drawing/2014/main" id="{C2B77F4A-8837-CBBA-5631-96F5D7F3EB67}"/>
              </a:ext>
            </a:extLst>
          </p:cNvPr>
          <p:cNvSpPr txBox="1"/>
          <p:nvPr/>
        </p:nvSpPr>
        <p:spPr>
          <a:xfrm>
            <a:off x="925285" y="3105835"/>
            <a:ext cx="7156697" cy="369332"/>
          </a:xfrm>
          <a:prstGeom prst="rect">
            <a:avLst/>
          </a:prstGeom>
          <a:noFill/>
        </p:spPr>
        <p:txBody>
          <a:bodyPr wrap="square">
            <a:spAutoFit/>
          </a:bodyPr>
          <a:lstStyle/>
          <a:p>
            <a:r>
              <a:rPr lang="en-US" b="1" dirty="0">
                <a:solidFill>
                  <a:srgbClr val="404040"/>
                </a:solidFill>
                <a:effectLst/>
                <a:latin typeface="Times New Roman" panose="02020603050405020304" pitchFamily="18" charset="0"/>
                <a:cs typeface="Times New Roman" panose="02020603050405020304" pitchFamily="18" charset="0"/>
              </a:rPr>
              <a:t>Do you think AI is more helpful or harmful to society? Why?</a:t>
            </a:r>
            <a:endParaRPr lang="en-MY"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1339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200A8-231A-2D05-1EA8-0407D64FA9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487FEA-BCEB-15C6-0A85-BD14CDD0231C}"/>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Introduction</a:t>
            </a:r>
            <a:r>
              <a:rPr lang="en-US" dirty="0"/>
              <a:t>  </a:t>
            </a:r>
            <a:endParaRPr lang="en-GB" dirty="0"/>
          </a:p>
        </p:txBody>
      </p:sp>
      <p:sp>
        <p:nvSpPr>
          <p:cNvPr id="4" name="Slide Number Placeholder 3">
            <a:extLst>
              <a:ext uri="{FF2B5EF4-FFF2-40B4-BE49-F238E27FC236}">
                <a16:creationId xmlns:a16="http://schemas.microsoft.com/office/drawing/2014/main" id="{41A51304-3E7C-CC76-659D-F552E1A8973E}"/>
              </a:ext>
            </a:extLst>
          </p:cNvPr>
          <p:cNvSpPr>
            <a:spLocks noGrp="1"/>
          </p:cNvSpPr>
          <p:nvPr>
            <p:ph type="sldNum" sz="quarter" idx="12"/>
          </p:nvPr>
        </p:nvSpPr>
        <p:spPr/>
        <p:txBody>
          <a:bodyPr/>
          <a:lstStyle/>
          <a:p>
            <a:fld id="{C1FF6DA9-008F-8B48-92A6-B652298478BF}" type="slidenum">
              <a:rPr lang="en-US" smtClean="0"/>
              <a:t>8</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99FF9B77-E236-B1AA-9438-0999632A725C}"/>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TextBox 4">
            <a:extLst>
              <a:ext uri="{FF2B5EF4-FFF2-40B4-BE49-F238E27FC236}">
                <a16:creationId xmlns:a16="http://schemas.microsoft.com/office/drawing/2014/main" id="{40CF433B-9601-6967-C020-2DA54E092C4B}"/>
              </a:ext>
            </a:extLst>
          </p:cNvPr>
          <p:cNvSpPr txBox="1"/>
          <p:nvPr/>
        </p:nvSpPr>
        <p:spPr>
          <a:xfrm>
            <a:off x="925285" y="3105835"/>
            <a:ext cx="7336971" cy="369332"/>
          </a:xfrm>
          <a:prstGeom prst="rect">
            <a:avLst/>
          </a:prstGeom>
          <a:noFill/>
        </p:spPr>
        <p:txBody>
          <a:bodyPr wrap="square">
            <a:spAutoFit/>
          </a:bodyPr>
          <a:lstStyle/>
          <a:p>
            <a:r>
              <a:rPr lang="en-US" b="1" dirty="0">
                <a:solidFill>
                  <a:srgbClr val="404040"/>
                </a:solidFill>
                <a:effectLst/>
                <a:latin typeface="Times New Roman" panose="02020603050405020304" pitchFamily="18" charset="0"/>
                <a:cs typeface="Times New Roman" panose="02020603050405020304" pitchFamily="18" charset="0"/>
              </a:rPr>
              <a:t>What’s the difference between AI and a regular computer program?</a:t>
            </a:r>
            <a:endParaRPr lang="en-MY"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8029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6C70D-FCB0-9AAA-758E-BEC7FF0DC1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B5FF97-FB1A-E094-6941-7DF175040CFD}"/>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Introduction</a:t>
            </a:r>
            <a:r>
              <a:rPr lang="en-US" dirty="0"/>
              <a:t>  </a:t>
            </a:r>
            <a:endParaRPr lang="en-GB" dirty="0"/>
          </a:p>
        </p:txBody>
      </p:sp>
      <p:sp>
        <p:nvSpPr>
          <p:cNvPr id="4" name="Slide Number Placeholder 3">
            <a:extLst>
              <a:ext uri="{FF2B5EF4-FFF2-40B4-BE49-F238E27FC236}">
                <a16:creationId xmlns:a16="http://schemas.microsoft.com/office/drawing/2014/main" id="{BF05A890-E982-EF57-725E-25A94856D977}"/>
              </a:ext>
            </a:extLst>
          </p:cNvPr>
          <p:cNvSpPr>
            <a:spLocks noGrp="1"/>
          </p:cNvSpPr>
          <p:nvPr>
            <p:ph type="sldNum" sz="quarter" idx="12"/>
          </p:nvPr>
        </p:nvSpPr>
        <p:spPr/>
        <p:txBody>
          <a:bodyPr/>
          <a:lstStyle/>
          <a:p>
            <a:fld id="{C1FF6DA9-008F-8B48-92A6-B652298478BF}" type="slidenum">
              <a:rPr lang="en-US" smtClean="0"/>
              <a:t>9</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7D2B4A09-AA62-7297-5C96-39275E98DFC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TextBox 4">
            <a:extLst>
              <a:ext uri="{FF2B5EF4-FFF2-40B4-BE49-F238E27FC236}">
                <a16:creationId xmlns:a16="http://schemas.microsoft.com/office/drawing/2014/main" id="{4EF7821F-ABE4-4F63-EDD1-19D35EDC7E59}"/>
              </a:ext>
            </a:extLst>
          </p:cNvPr>
          <p:cNvSpPr txBox="1"/>
          <p:nvPr/>
        </p:nvSpPr>
        <p:spPr>
          <a:xfrm>
            <a:off x="925285" y="3105835"/>
            <a:ext cx="7511143" cy="369332"/>
          </a:xfrm>
          <a:prstGeom prst="rect">
            <a:avLst/>
          </a:prstGeom>
          <a:noFill/>
        </p:spPr>
        <p:txBody>
          <a:bodyPr wrap="square">
            <a:spAutoFit/>
          </a:bodyPr>
          <a:lstStyle/>
          <a:p>
            <a:r>
              <a:rPr lang="en-US" b="1" dirty="0">
                <a:solidFill>
                  <a:srgbClr val="404040"/>
                </a:solidFill>
                <a:effectLst/>
                <a:latin typeface="Times New Roman" panose="02020603050405020304" pitchFamily="18" charset="0"/>
                <a:cs typeface="Times New Roman" panose="02020603050405020304" pitchFamily="18" charset="0"/>
              </a:rPr>
              <a:t>If you could build an AI to solve one world problem, what would it do?</a:t>
            </a:r>
            <a:endParaRPr lang="en-MY"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8060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070F8-E437-42DB-8B21-8E2FA92F3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3CADD1-6B49-9470-8010-5276F29A9F5B}"/>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What is Artificial Intelligence  </a:t>
            </a:r>
            <a:endParaRPr lang="en-GB"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5DB352-0CB1-1B1B-4405-77D1D579685D}"/>
              </a:ext>
            </a:extLst>
          </p:cNvPr>
          <p:cNvSpPr>
            <a:spLocks noGrp="1"/>
          </p:cNvSpPr>
          <p:nvPr>
            <p:ph type="sldNum" sz="quarter" idx="12"/>
          </p:nvPr>
        </p:nvSpPr>
        <p:spPr/>
        <p:txBody>
          <a:bodyPr/>
          <a:lstStyle/>
          <a:p>
            <a:fld id="{C1FF6DA9-008F-8B48-92A6-B652298478BF}" type="slidenum">
              <a:rPr lang="en-US" smtClean="0"/>
              <a:t>10</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FC5FD61F-80A2-202C-3F0B-EE3905DC1A15}"/>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TextBox 4">
            <a:extLst>
              <a:ext uri="{FF2B5EF4-FFF2-40B4-BE49-F238E27FC236}">
                <a16:creationId xmlns:a16="http://schemas.microsoft.com/office/drawing/2014/main" id="{3AF2BA34-34A9-C276-8AAC-A703AE7564AB}"/>
              </a:ext>
            </a:extLst>
          </p:cNvPr>
          <p:cNvSpPr txBox="1"/>
          <p:nvPr/>
        </p:nvSpPr>
        <p:spPr>
          <a:xfrm>
            <a:off x="466903" y="1777266"/>
            <a:ext cx="8514994" cy="3795911"/>
          </a:xfrm>
          <a:prstGeom prst="rect">
            <a:avLst/>
          </a:prstGeom>
          <a:noFill/>
        </p:spPr>
        <p:txBody>
          <a:bodyPr wrap="square">
            <a:spAutoFit/>
          </a:bodyPr>
          <a:lstStyle/>
          <a:p>
            <a:pPr algn="just">
              <a:spcBef>
                <a:spcPts val="1029"/>
              </a:spcBef>
              <a:spcAft>
                <a:spcPts val="1029"/>
              </a:spcAft>
              <a:buNone/>
            </a:pPr>
            <a:r>
              <a:rPr lang="en-US" sz="3200" b="1" dirty="0">
                <a:solidFill>
                  <a:srgbClr val="404040"/>
                </a:solidFill>
                <a:latin typeface="Times New Roman" panose="02020603050405020304" pitchFamily="18" charset="0"/>
                <a:cs typeface="Times New Roman" panose="02020603050405020304" pitchFamily="18" charset="0"/>
              </a:rPr>
              <a:t>Artificial Intelligence (AI) </a:t>
            </a:r>
            <a:r>
              <a:rPr lang="en-US" sz="3200" dirty="0">
                <a:solidFill>
                  <a:srgbClr val="404040"/>
                </a:solidFill>
                <a:latin typeface="Times New Roman" panose="02020603050405020304" pitchFamily="18" charset="0"/>
                <a:cs typeface="Times New Roman" panose="02020603050405020304" pitchFamily="18" charset="0"/>
              </a:rPr>
              <a:t>refers to the simulation of human intelligence in machines that are programmed to think, learn, and perform tasks that typically require human intelligence.</a:t>
            </a:r>
          </a:p>
          <a:p>
            <a:pPr algn="just">
              <a:spcBef>
                <a:spcPts val="1029"/>
              </a:spcBef>
              <a:spcAft>
                <a:spcPts val="1029"/>
              </a:spcAft>
              <a:buNone/>
            </a:pPr>
            <a:r>
              <a:rPr lang="en-US" sz="3200" b="1" dirty="0">
                <a:solidFill>
                  <a:srgbClr val="404040"/>
                </a:solidFill>
                <a:latin typeface="Times New Roman" panose="02020603050405020304" pitchFamily="18" charset="0"/>
                <a:cs typeface="Times New Roman" panose="02020603050405020304" pitchFamily="18" charset="0"/>
              </a:rPr>
              <a:t>AI</a:t>
            </a:r>
            <a:r>
              <a:rPr lang="en-US" sz="3200" dirty="0">
                <a:solidFill>
                  <a:srgbClr val="404040"/>
                </a:solidFill>
                <a:latin typeface="Times New Roman" panose="02020603050405020304" pitchFamily="18" charset="0"/>
                <a:cs typeface="Times New Roman" panose="02020603050405020304" pitchFamily="18" charset="0"/>
              </a:rPr>
              <a:t> is  </a:t>
            </a:r>
            <a:r>
              <a:rPr lang="en-US" sz="3200" b="1" dirty="0">
                <a:solidFill>
                  <a:srgbClr val="404040"/>
                </a:solidFill>
                <a:latin typeface="Times New Roman" panose="02020603050405020304" pitchFamily="18" charset="0"/>
                <a:cs typeface="Times New Roman" panose="02020603050405020304" pitchFamily="18" charset="0"/>
              </a:rPr>
              <a:t>branch of computer science </a:t>
            </a:r>
            <a:r>
              <a:rPr lang="en-US" sz="3200" dirty="0">
                <a:solidFill>
                  <a:srgbClr val="404040"/>
                </a:solidFill>
                <a:latin typeface="Times New Roman" panose="02020603050405020304" pitchFamily="18" charset="0"/>
                <a:cs typeface="Times New Roman" panose="02020603050405020304" pitchFamily="18" charset="0"/>
              </a:rPr>
              <a:t>focused on automating intelligent behavior in machines.</a:t>
            </a:r>
            <a:br>
              <a:rPr lang="en-US" sz="3200" dirty="0">
                <a:latin typeface="Times New Roman" panose="02020603050405020304" pitchFamily="18" charset="0"/>
                <a:cs typeface="Times New Roman" panose="02020603050405020304" pitchFamily="18" charset="0"/>
              </a:rPr>
            </a:br>
            <a:endParaRPr lang="en-US" sz="3200" b="0" i="0" dirty="0">
              <a:solidFill>
                <a:srgbClr val="40404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5637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AF123-860E-7EB3-3E05-9A81581793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99E3C-F3AD-46F6-52EF-8497D6644492}"/>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What is Intelligence</a:t>
            </a:r>
            <a:r>
              <a:rPr lang="en-US" dirty="0"/>
              <a:t>  </a:t>
            </a:r>
            <a:endParaRPr lang="en-GB" dirty="0"/>
          </a:p>
        </p:txBody>
      </p:sp>
      <p:sp>
        <p:nvSpPr>
          <p:cNvPr id="4" name="Slide Number Placeholder 3">
            <a:extLst>
              <a:ext uri="{FF2B5EF4-FFF2-40B4-BE49-F238E27FC236}">
                <a16:creationId xmlns:a16="http://schemas.microsoft.com/office/drawing/2014/main" id="{57F2195C-FD8A-14B7-6BB1-BDC5C37A4482}"/>
              </a:ext>
            </a:extLst>
          </p:cNvPr>
          <p:cNvSpPr>
            <a:spLocks noGrp="1"/>
          </p:cNvSpPr>
          <p:nvPr>
            <p:ph type="sldNum" sz="quarter" idx="12"/>
          </p:nvPr>
        </p:nvSpPr>
        <p:spPr/>
        <p:txBody>
          <a:bodyPr/>
          <a:lstStyle/>
          <a:p>
            <a:fld id="{C1FF6DA9-008F-8B48-92A6-B652298478BF}" type="slidenum">
              <a:rPr lang="en-US" smtClean="0"/>
              <a:t>11</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E3D1E3BF-FD71-3FDB-C971-07771E09429A}"/>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TextBox 4">
            <a:extLst>
              <a:ext uri="{FF2B5EF4-FFF2-40B4-BE49-F238E27FC236}">
                <a16:creationId xmlns:a16="http://schemas.microsoft.com/office/drawing/2014/main" id="{EC8AFFEB-6143-47DA-68A6-349A31AA554D}"/>
              </a:ext>
            </a:extLst>
          </p:cNvPr>
          <p:cNvSpPr txBox="1"/>
          <p:nvPr/>
        </p:nvSpPr>
        <p:spPr>
          <a:xfrm>
            <a:off x="466903" y="1777266"/>
            <a:ext cx="8514994" cy="3303468"/>
          </a:xfrm>
          <a:prstGeom prst="rect">
            <a:avLst/>
          </a:prstGeom>
          <a:noFill/>
        </p:spPr>
        <p:txBody>
          <a:bodyPr wrap="square">
            <a:spAutoFit/>
          </a:bodyPr>
          <a:lstStyle/>
          <a:p>
            <a:pPr algn="just">
              <a:spcBef>
                <a:spcPts val="1029"/>
              </a:spcBef>
              <a:spcAft>
                <a:spcPts val="1029"/>
              </a:spcAft>
              <a:buNone/>
            </a:pPr>
            <a:r>
              <a:rPr lang="en-US" sz="3200" b="1" i="0" dirty="0">
                <a:solidFill>
                  <a:srgbClr val="404040"/>
                </a:solidFill>
                <a:effectLst/>
                <a:latin typeface="Times New Roman" panose="02020603050405020304" pitchFamily="18" charset="0"/>
                <a:cs typeface="Times New Roman" panose="02020603050405020304" pitchFamily="18" charset="0"/>
              </a:rPr>
              <a:t>Intelligence</a:t>
            </a:r>
            <a:r>
              <a:rPr lang="en-US" sz="3200" b="0" i="0" dirty="0">
                <a:solidFill>
                  <a:srgbClr val="404040"/>
                </a:solidFill>
                <a:effectLst/>
                <a:latin typeface="Times New Roman" panose="02020603050405020304" pitchFamily="18" charset="0"/>
                <a:cs typeface="Times New Roman" panose="02020603050405020304" pitchFamily="18" charset="0"/>
              </a:rPr>
              <a:t> is a person's ability to </a:t>
            </a:r>
            <a:r>
              <a:rPr lang="en-US" sz="3200" b="1" i="0" dirty="0">
                <a:solidFill>
                  <a:srgbClr val="404040"/>
                </a:solidFill>
                <a:effectLst/>
                <a:latin typeface="Times New Roman" panose="02020603050405020304" pitchFamily="18" charset="0"/>
                <a:cs typeface="Times New Roman" panose="02020603050405020304" pitchFamily="18" charset="0"/>
              </a:rPr>
              <a:t>understand, learn, and think logically</a:t>
            </a:r>
            <a:r>
              <a:rPr lang="en-US" sz="3200" b="0" i="0" dirty="0">
                <a:solidFill>
                  <a:srgbClr val="404040"/>
                </a:solidFill>
                <a:effectLst/>
                <a:latin typeface="Times New Roman" panose="02020603050405020304" pitchFamily="18" charset="0"/>
                <a:cs typeface="Times New Roman" panose="02020603050405020304" pitchFamily="18" charset="0"/>
              </a:rPr>
              <a:t>, rather than relying solely on instinct or automatic responses.</a:t>
            </a:r>
          </a:p>
          <a:p>
            <a:pPr algn="just">
              <a:spcBef>
                <a:spcPts val="1029"/>
              </a:spcBef>
              <a:spcAft>
                <a:spcPts val="1029"/>
              </a:spcAft>
            </a:pPr>
            <a:r>
              <a:rPr lang="en-US" sz="3200" b="1" i="0" dirty="0">
                <a:solidFill>
                  <a:srgbClr val="404040"/>
                </a:solidFill>
                <a:effectLst/>
                <a:latin typeface="Times New Roman" panose="02020603050405020304" pitchFamily="18" charset="0"/>
                <a:cs typeface="Times New Roman" panose="02020603050405020304" pitchFamily="18" charset="0"/>
              </a:rPr>
              <a:t>Thinking</a:t>
            </a:r>
            <a:r>
              <a:rPr lang="en-US" sz="3200" b="0" i="0" dirty="0">
                <a:solidFill>
                  <a:srgbClr val="404040"/>
                </a:solidFill>
                <a:effectLst/>
                <a:latin typeface="Times New Roman" panose="02020603050405020304" pitchFamily="18" charset="0"/>
                <a:cs typeface="Times New Roman" panose="02020603050405020304" pitchFamily="18" charset="0"/>
              </a:rPr>
              <a:t> is the mental process of using one’s brain to analyze a problem, generate ideas, or form judgments.</a:t>
            </a:r>
          </a:p>
        </p:txBody>
      </p:sp>
    </p:spTree>
    <p:extLst>
      <p:ext uri="{BB962C8B-B14F-4D97-AF65-F5344CB8AC3E}">
        <p14:creationId xmlns:p14="http://schemas.microsoft.com/office/powerpoint/2010/main" val="1498750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8D173-F3BA-01F4-070F-F056A71EFB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CC38B-1C01-5448-D627-92485513D2BB}"/>
              </a:ext>
            </a:extLst>
          </p:cNvPr>
          <p:cNvSpPr>
            <a:spLocks noGrp="1"/>
          </p:cNvSpPr>
          <p:nvPr>
            <p:ph type="title"/>
          </p:nvPr>
        </p:nvSpPr>
        <p:spPr/>
        <p:txBody>
          <a:bodyPr>
            <a:normAutofit fontScale="90000"/>
          </a:bodyPr>
          <a:lstStyle/>
          <a:p>
            <a:r>
              <a:rPr lang="en-MY" dirty="0"/>
              <a:t>Examples </a:t>
            </a:r>
            <a:endParaRPr lang="en-GB" dirty="0"/>
          </a:p>
        </p:txBody>
      </p:sp>
      <p:sp>
        <p:nvSpPr>
          <p:cNvPr id="4" name="Slide Number Placeholder 3">
            <a:extLst>
              <a:ext uri="{FF2B5EF4-FFF2-40B4-BE49-F238E27FC236}">
                <a16:creationId xmlns:a16="http://schemas.microsoft.com/office/drawing/2014/main" id="{971C4D55-C32F-13BB-6DFB-E5BA006BF126}"/>
              </a:ext>
            </a:extLst>
          </p:cNvPr>
          <p:cNvSpPr>
            <a:spLocks noGrp="1"/>
          </p:cNvSpPr>
          <p:nvPr>
            <p:ph type="sldNum" sz="quarter" idx="12"/>
          </p:nvPr>
        </p:nvSpPr>
        <p:spPr/>
        <p:txBody>
          <a:bodyPr/>
          <a:lstStyle/>
          <a:p>
            <a:fld id="{C1FF6DA9-008F-8B48-92A6-B652298478BF}" type="slidenum">
              <a:rPr lang="en-US" smtClean="0"/>
              <a:t>12</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D7FF5D31-69BD-91D8-6612-D37C263A1C4B}"/>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TextBox 4">
            <a:extLst>
              <a:ext uri="{FF2B5EF4-FFF2-40B4-BE49-F238E27FC236}">
                <a16:creationId xmlns:a16="http://schemas.microsoft.com/office/drawing/2014/main" id="{50003FB2-B49C-193D-BFE4-E297A78D84E2}"/>
              </a:ext>
            </a:extLst>
          </p:cNvPr>
          <p:cNvSpPr txBox="1"/>
          <p:nvPr/>
        </p:nvSpPr>
        <p:spPr>
          <a:xfrm>
            <a:off x="314503" y="1485384"/>
            <a:ext cx="8514994" cy="4401205"/>
          </a:xfrm>
          <a:prstGeom prst="rect">
            <a:avLst/>
          </a:prstGeom>
          <a:noFill/>
        </p:spPr>
        <p:txBody>
          <a:bodyPr wrap="square">
            <a:spAutoFit/>
          </a:bodyPr>
          <a:lstStyle/>
          <a:p>
            <a:pPr marL="571500" indent="-571500" algn="just">
              <a:buFontTx/>
              <a:buChar char="-"/>
            </a:pPr>
            <a:r>
              <a:rPr lang="en-US" sz="4000" dirty="0">
                <a:latin typeface="Times New Roman" panose="02020603050405020304" pitchFamily="18" charset="0"/>
                <a:cs typeface="Times New Roman" panose="02020603050405020304" pitchFamily="18" charset="0"/>
              </a:rPr>
              <a:t>Google Translate converting one language to another.</a:t>
            </a:r>
          </a:p>
          <a:p>
            <a:pPr marL="571500" indent="-571500" algn="just">
              <a:buFontTx/>
              <a:buChar char="-"/>
            </a:pPr>
            <a:r>
              <a:rPr lang="en-US" sz="4000" dirty="0">
                <a:latin typeface="Times New Roman" panose="02020603050405020304" pitchFamily="18" charset="0"/>
                <a:cs typeface="Times New Roman" panose="02020603050405020304" pitchFamily="18" charset="0"/>
              </a:rPr>
              <a:t>Self-driving cars detecting pedestrians.</a:t>
            </a:r>
          </a:p>
          <a:p>
            <a:pPr marL="571500" indent="-571500" algn="just">
              <a:buFontTx/>
              <a:buChar char="-"/>
            </a:pPr>
            <a:r>
              <a:rPr lang="en-US" sz="4000" dirty="0">
                <a:latin typeface="Times New Roman" panose="02020603050405020304" pitchFamily="18" charset="0"/>
                <a:cs typeface="Times New Roman" panose="02020603050405020304" pitchFamily="18" charset="0"/>
              </a:rPr>
              <a:t>Chatbots answering customer questions.</a:t>
            </a:r>
          </a:p>
          <a:p>
            <a:pPr algn="just"/>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7757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57227-3E01-5FBB-AF4E-FC1AE9436E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1789E3-FE1E-8A37-19F7-30A6C7BB0831}"/>
              </a:ext>
            </a:extLst>
          </p:cNvPr>
          <p:cNvSpPr>
            <a:spLocks noGrp="1"/>
          </p:cNvSpPr>
          <p:nvPr>
            <p:ph type="title"/>
          </p:nvPr>
        </p:nvSpPr>
        <p:spPr/>
        <p:txBody>
          <a:bodyPr>
            <a:normAutofit fontScale="90000"/>
          </a:bodyPr>
          <a:lstStyle/>
          <a:p>
            <a:r>
              <a:rPr lang="en-MY" dirty="0"/>
              <a:t>Categories of AI </a:t>
            </a:r>
            <a:endParaRPr lang="en-GB" dirty="0"/>
          </a:p>
        </p:txBody>
      </p:sp>
      <p:sp>
        <p:nvSpPr>
          <p:cNvPr id="4" name="Slide Number Placeholder 3">
            <a:extLst>
              <a:ext uri="{FF2B5EF4-FFF2-40B4-BE49-F238E27FC236}">
                <a16:creationId xmlns:a16="http://schemas.microsoft.com/office/drawing/2014/main" id="{07614004-423C-A156-6BEA-9A3053E5B1F8}"/>
              </a:ext>
            </a:extLst>
          </p:cNvPr>
          <p:cNvSpPr>
            <a:spLocks noGrp="1"/>
          </p:cNvSpPr>
          <p:nvPr>
            <p:ph type="sldNum" sz="quarter" idx="12"/>
          </p:nvPr>
        </p:nvSpPr>
        <p:spPr/>
        <p:txBody>
          <a:bodyPr/>
          <a:lstStyle/>
          <a:p>
            <a:fld id="{C1FF6DA9-008F-8B48-92A6-B652298478BF}" type="slidenum">
              <a:rPr lang="en-US" smtClean="0"/>
              <a:t>13</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0EA0998A-ECA3-3DDC-661E-30DC7414616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TextBox 5">
            <a:extLst>
              <a:ext uri="{FF2B5EF4-FFF2-40B4-BE49-F238E27FC236}">
                <a16:creationId xmlns:a16="http://schemas.microsoft.com/office/drawing/2014/main" id="{80DFFF81-0D55-DEB9-96F8-803A34B9EEF7}"/>
              </a:ext>
            </a:extLst>
          </p:cNvPr>
          <p:cNvSpPr txBox="1"/>
          <p:nvPr/>
        </p:nvSpPr>
        <p:spPr>
          <a:xfrm>
            <a:off x="291549" y="1432234"/>
            <a:ext cx="7948937" cy="4401205"/>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Narrow AI (Weak AI)</a:t>
            </a: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Definition:</a:t>
            </a:r>
            <a:r>
              <a:rPr lang="en-US" sz="2800" dirty="0">
                <a:latin typeface="Times New Roman" panose="02020603050405020304" pitchFamily="18" charset="0"/>
                <a:cs typeface="Times New Roman" panose="02020603050405020304" pitchFamily="18" charset="0"/>
              </a:rPr>
              <a:t> AI designed to perform a </a:t>
            </a:r>
            <a:r>
              <a:rPr lang="en-US" sz="2800" b="1" dirty="0">
                <a:latin typeface="Times New Roman" panose="02020603050405020304" pitchFamily="18" charset="0"/>
                <a:cs typeface="Times New Roman" panose="02020603050405020304" pitchFamily="18" charset="0"/>
              </a:rPr>
              <a:t>specific task</a:t>
            </a:r>
            <a:r>
              <a:rPr lang="en-US" sz="28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doesn’t possess human-level intelligence; it only excels in its narrow domain.</a:t>
            </a: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Examples:</a:t>
            </a:r>
            <a:endParaRPr lang="en-US" sz="28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Siri, Alexa (voice assistants).</a:t>
            </a:r>
          </a:p>
          <a:p>
            <a:pPr marL="742950" lvl="1"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Netflix recommendations.</a:t>
            </a:r>
          </a:p>
          <a:p>
            <a:pPr marL="742950" lvl="1"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Spam filters in Gmail.</a:t>
            </a:r>
          </a:p>
          <a:p>
            <a:pPr>
              <a:buNone/>
            </a:pP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Key Point:</a:t>
            </a:r>
            <a:r>
              <a:rPr lang="en-US" sz="2800" dirty="0">
                <a:latin typeface="Times New Roman" panose="02020603050405020304" pitchFamily="18" charset="0"/>
                <a:cs typeface="Times New Roman" panose="02020603050405020304" pitchFamily="18" charset="0"/>
              </a:rPr>
              <a:t> Narrow AI is everywhere today. Almost all current AI systems belong to this category.</a:t>
            </a:r>
          </a:p>
        </p:txBody>
      </p:sp>
    </p:spTree>
    <p:extLst>
      <p:ext uri="{BB962C8B-B14F-4D97-AF65-F5344CB8AC3E}">
        <p14:creationId xmlns:p14="http://schemas.microsoft.com/office/powerpoint/2010/main" val="1990908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3134F-35FA-D3F5-E6A2-037931E2A4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D41251-83A6-37D4-8278-97973AFD976A}"/>
              </a:ext>
            </a:extLst>
          </p:cNvPr>
          <p:cNvSpPr>
            <a:spLocks noGrp="1"/>
          </p:cNvSpPr>
          <p:nvPr>
            <p:ph type="title"/>
          </p:nvPr>
        </p:nvSpPr>
        <p:spPr/>
        <p:txBody>
          <a:bodyPr>
            <a:normAutofit fontScale="90000"/>
          </a:bodyPr>
          <a:lstStyle/>
          <a:p>
            <a:r>
              <a:rPr lang="en-MY" dirty="0"/>
              <a:t>Categories of AI </a:t>
            </a:r>
            <a:endParaRPr lang="en-GB" dirty="0"/>
          </a:p>
        </p:txBody>
      </p:sp>
      <p:sp>
        <p:nvSpPr>
          <p:cNvPr id="4" name="Slide Number Placeholder 3">
            <a:extLst>
              <a:ext uri="{FF2B5EF4-FFF2-40B4-BE49-F238E27FC236}">
                <a16:creationId xmlns:a16="http://schemas.microsoft.com/office/drawing/2014/main" id="{A0BE16DE-B6A7-16F8-A8A1-702AFFA90BDB}"/>
              </a:ext>
            </a:extLst>
          </p:cNvPr>
          <p:cNvSpPr>
            <a:spLocks noGrp="1"/>
          </p:cNvSpPr>
          <p:nvPr>
            <p:ph type="sldNum" sz="quarter" idx="12"/>
          </p:nvPr>
        </p:nvSpPr>
        <p:spPr/>
        <p:txBody>
          <a:bodyPr/>
          <a:lstStyle/>
          <a:p>
            <a:fld id="{C1FF6DA9-008F-8B48-92A6-B652298478BF}" type="slidenum">
              <a:rPr lang="en-US" smtClean="0"/>
              <a:t>14</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48E55205-EA62-C4C8-C0F6-D0BD9716878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TextBox 5">
            <a:extLst>
              <a:ext uri="{FF2B5EF4-FFF2-40B4-BE49-F238E27FC236}">
                <a16:creationId xmlns:a16="http://schemas.microsoft.com/office/drawing/2014/main" id="{C5D2A2F2-CA99-F0D6-8D1C-9B4E4BAC83EA}"/>
              </a:ext>
            </a:extLst>
          </p:cNvPr>
          <p:cNvSpPr txBox="1"/>
          <p:nvPr/>
        </p:nvSpPr>
        <p:spPr>
          <a:xfrm>
            <a:off x="291549" y="1432234"/>
            <a:ext cx="7948937" cy="452431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Broad AI (Applied AI / Domain-specific AI)</a:t>
            </a:r>
          </a:p>
          <a:p>
            <a:r>
              <a:rPr lang="en-US" sz="2400" b="1" dirty="0">
                <a:latin typeface="Times New Roman" panose="02020603050405020304" pitchFamily="18" charset="0"/>
                <a:cs typeface="Times New Roman" panose="02020603050405020304" pitchFamily="18" charset="0"/>
              </a:rPr>
              <a:t>Definition:</a:t>
            </a:r>
            <a:r>
              <a:rPr lang="en-US" sz="2400" dirty="0">
                <a:latin typeface="Times New Roman" panose="02020603050405020304" pitchFamily="18" charset="0"/>
                <a:cs typeface="Times New Roman" panose="02020603050405020304" pitchFamily="18" charset="0"/>
              </a:rPr>
              <a:t> AI that can work across </a:t>
            </a:r>
            <a:r>
              <a:rPr lang="en-US" sz="2400" b="1" dirty="0">
                <a:latin typeface="Times New Roman" panose="02020603050405020304" pitchFamily="18" charset="0"/>
                <a:cs typeface="Times New Roman" panose="02020603050405020304" pitchFamily="18" charset="0"/>
              </a:rPr>
              <a:t>multiple related domains</a:t>
            </a:r>
            <a:r>
              <a:rPr lang="en-US" sz="2400" dirty="0">
                <a:latin typeface="Times New Roman" panose="02020603050405020304" pitchFamily="18" charset="0"/>
                <a:cs typeface="Times New Roman" panose="02020603050405020304" pitchFamily="18" charset="0"/>
              </a:rPr>
              <a:t>, more flexible than narrow AI, but still not fully human-like.</a:t>
            </a:r>
          </a:p>
          <a:p>
            <a:r>
              <a:rPr lang="en-US" sz="2400" dirty="0">
                <a:latin typeface="Times New Roman" panose="02020603050405020304" pitchFamily="18" charset="0"/>
                <a:cs typeface="Times New Roman" panose="02020603050405020304" pitchFamily="18" charset="0"/>
              </a:rPr>
              <a:t>It combines different narrow AI systems to handle broader tasks.</a:t>
            </a:r>
          </a:p>
          <a:p>
            <a:r>
              <a:rPr lang="en-US" sz="2400" b="1" dirty="0">
                <a:latin typeface="Times New Roman" panose="02020603050405020304" pitchFamily="18" charset="0"/>
                <a:cs typeface="Times New Roman" panose="02020603050405020304" pitchFamily="18" charset="0"/>
              </a:rPr>
              <a:t>Examples:</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Healthcare AI that can diagnose several diseases, not just one.</a:t>
            </a:r>
          </a:p>
          <a:p>
            <a:pPr lvl="1"/>
            <a:r>
              <a:rPr lang="en-US" sz="2400" dirty="0">
                <a:latin typeface="Times New Roman" panose="02020603050405020304" pitchFamily="18" charset="0"/>
                <a:cs typeface="Times New Roman" panose="02020603050405020304" pitchFamily="18" charset="0"/>
              </a:rPr>
              <a:t>An AI in autonomous vehicles that can drive, navigate, and avoid accidents.</a:t>
            </a: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Key Point:</a:t>
            </a:r>
            <a:r>
              <a:rPr lang="en-US" sz="2400" dirty="0">
                <a:latin typeface="Times New Roman" panose="02020603050405020304" pitchFamily="18" charset="0"/>
                <a:cs typeface="Times New Roman" panose="02020603050405020304" pitchFamily="18" charset="0"/>
              </a:rPr>
              <a:t> Broad AI shows progress toward versatility but remains limited compared to humans.</a:t>
            </a:r>
          </a:p>
        </p:txBody>
      </p:sp>
    </p:spTree>
    <p:extLst>
      <p:ext uri="{BB962C8B-B14F-4D97-AF65-F5344CB8AC3E}">
        <p14:creationId xmlns:p14="http://schemas.microsoft.com/office/powerpoint/2010/main" val="2599317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F4B06-88C9-ACD9-BF58-2F827A1143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65C6BC-D505-966C-2287-9CFF446C938F}"/>
              </a:ext>
            </a:extLst>
          </p:cNvPr>
          <p:cNvSpPr>
            <a:spLocks noGrp="1"/>
          </p:cNvSpPr>
          <p:nvPr>
            <p:ph type="title"/>
          </p:nvPr>
        </p:nvSpPr>
        <p:spPr/>
        <p:txBody>
          <a:bodyPr>
            <a:normAutofit fontScale="90000"/>
          </a:bodyPr>
          <a:lstStyle/>
          <a:p>
            <a:r>
              <a:rPr lang="en-MY" dirty="0"/>
              <a:t>Categories of AI </a:t>
            </a:r>
            <a:endParaRPr lang="en-GB" dirty="0"/>
          </a:p>
        </p:txBody>
      </p:sp>
      <p:sp>
        <p:nvSpPr>
          <p:cNvPr id="4" name="Slide Number Placeholder 3">
            <a:extLst>
              <a:ext uri="{FF2B5EF4-FFF2-40B4-BE49-F238E27FC236}">
                <a16:creationId xmlns:a16="http://schemas.microsoft.com/office/drawing/2014/main" id="{25EA13DD-E47E-F067-6F5B-1F0A597DE6BB}"/>
              </a:ext>
            </a:extLst>
          </p:cNvPr>
          <p:cNvSpPr>
            <a:spLocks noGrp="1"/>
          </p:cNvSpPr>
          <p:nvPr>
            <p:ph type="sldNum" sz="quarter" idx="12"/>
          </p:nvPr>
        </p:nvSpPr>
        <p:spPr/>
        <p:txBody>
          <a:bodyPr/>
          <a:lstStyle/>
          <a:p>
            <a:fld id="{C1FF6DA9-008F-8B48-92A6-B652298478BF}" type="slidenum">
              <a:rPr lang="en-US" smtClean="0"/>
              <a:t>15</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A2196875-107B-E59D-A884-584455058DAF}"/>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TextBox 5">
            <a:extLst>
              <a:ext uri="{FF2B5EF4-FFF2-40B4-BE49-F238E27FC236}">
                <a16:creationId xmlns:a16="http://schemas.microsoft.com/office/drawing/2014/main" id="{AD0715DD-00AD-CDF2-0044-BF3801B82296}"/>
              </a:ext>
            </a:extLst>
          </p:cNvPr>
          <p:cNvSpPr txBox="1"/>
          <p:nvPr/>
        </p:nvSpPr>
        <p:spPr>
          <a:xfrm>
            <a:off x="581192" y="1688574"/>
            <a:ext cx="7948937" cy="3785652"/>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General AI (Strong AI / Human-level AI)</a:t>
            </a:r>
          </a:p>
          <a:p>
            <a:r>
              <a:rPr lang="en-US" sz="2400" b="1" dirty="0">
                <a:latin typeface="Times New Roman" panose="02020603050405020304" pitchFamily="18" charset="0"/>
                <a:cs typeface="Times New Roman" panose="02020603050405020304" pitchFamily="18" charset="0"/>
              </a:rPr>
              <a:t>Definition:</a:t>
            </a:r>
            <a:r>
              <a:rPr lang="en-US" sz="2400" dirty="0">
                <a:latin typeface="Times New Roman" panose="02020603050405020304" pitchFamily="18" charset="0"/>
                <a:cs typeface="Times New Roman" panose="02020603050405020304" pitchFamily="18" charset="0"/>
              </a:rPr>
              <a:t> AI that can understand, learn, and apply knowledge </a:t>
            </a:r>
            <a:r>
              <a:rPr lang="en-US" sz="2400" b="1" dirty="0">
                <a:latin typeface="Times New Roman" panose="02020603050405020304" pitchFamily="18" charset="0"/>
                <a:cs typeface="Times New Roman" panose="02020603050405020304" pitchFamily="18" charset="0"/>
              </a:rPr>
              <a:t>across any domain</a:t>
            </a:r>
            <a:r>
              <a:rPr lang="en-US" sz="2400" dirty="0">
                <a:latin typeface="Times New Roman" panose="02020603050405020304" pitchFamily="18" charset="0"/>
                <a:cs typeface="Times New Roman" panose="02020603050405020304" pitchFamily="18" charset="0"/>
              </a:rPr>
              <a:t> like a human being.</a:t>
            </a:r>
          </a:p>
          <a:p>
            <a:r>
              <a:rPr lang="en-US" sz="2400" dirty="0">
                <a:latin typeface="Times New Roman" panose="02020603050405020304" pitchFamily="18" charset="0"/>
                <a:cs typeface="Times New Roman" panose="02020603050405020304" pitchFamily="18" charset="0"/>
              </a:rPr>
              <a:t>It can reason, plan, solve problems, and even have creativity.</a:t>
            </a:r>
          </a:p>
          <a:p>
            <a:r>
              <a:rPr lang="en-US" sz="2400" b="1" dirty="0">
                <a:latin typeface="Times New Roman" panose="02020603050405020304" pitchFamily="18" charset="0"/>
                <a:cs typeface="Times New Roman" panose="02020603050405020304" pitchFamily="18" charset="0"/>
              </a:rPr>
              <a:t>Examples:</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Currently, </a:t>
            </a:r>
            <a:r>
              <a:rPr lang="en-US" sz="2400" b="1" dirty="0">
                <a:latin typeface="Times New Roman" panose="02020603050405020304" pitchFamily="18" charset="0"/>
                <a:cs typeface="Times New Roman" panose="02020603050405020304" pitchFamily="18" charset="0"/>
              </a:rPr>
              <a:t>General AI does not exist</a:t>
            </a:r>
            <a:r>
              <a:rPr lang="en-US" sz="2400" dirty="0">
                <a:latin typeface="Times New Roman" panose="02020603050405020304" pitchFamily="18" charset="0"/>
                <a:cs typeface="Times New Roman" panose="02020603050405020304" pitchFamily="18" charset="0"/>
              </a:rPr>
              <a:t>.</a:t>
            </a:r>
          </a:p>
          <a:p>
            <a:pPr lvl="1"/>
            <a:r>
              <a:rPr lang="en-US" sz="2400" dirty="0">
                <a:latin typeface="Times New Roman" panose="02020603050405020304" pitchFamily="18" charset="0"/>
                <a:cs typeface="Times New Roman" panose="02020603050405020304" pitchFamily="18" charset="0"/>
              </a:rPr>
              <a:t>Movies often show it (e.g., </a:t>
            </a:r>
            <a:r>
              <a:rPr lang="en-US" sz="2400" i="1" dirty="0">
                <a:latin typeface="Times New Roman" panose="02020603050405020304" pitchFamily="18" charset="0"/>
                <a:cs typeface="Times New Roman" panose="02020603050405020304" pitchFamily="18" charset="0"/>
              </a:rPr>
              <a:t>Jarvis in Iron Man</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Her</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Ex Machina</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Key Point:</a:t>
            </a:r>
            <a:r>
              <a:rPr lang="en-US" sz="2400" dirty="0">
                <a:latin typeface="Times New Roman" panose="02020603050405020304" pitchFamily="18" charset="0"/>
                <a:cs typeface="Times New Roman" panose="02020603050405020304" pitchFamily="18" charset="0"/>
              </a:rPr>
              <a:t> General AI is the long-term vision of AI research.</a:t>
            </a:r>
          </a:p>
        </p:txBody>
      </p:sp>
    </p:spTree>
    <p:extLst>
      <p:ext uri="{BB962C8B-B14F-4D97-AF65-F5344CB8AC3E}">
        <p14:creationId xmlns:p14="http://schemas.microsoft.com/office/powerpoint/2010/main" val="3378334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4D2FD-FBCA-B926-1667-2BEBB2A1D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90232-178A-0DFD-B256-2AAB5FA32BDC}"/>
              </a:ext>
            </a:extLst>
          </p:cNvPr>
          <p:cNvSpPr>
            <a:spLocks noGrp="1"/>
          </p:cNvSpPr>
          <p:nvPr>
            <p:ph type="title"/>
          </p:nvPr>
        </p:nvSpPr>
        <p:spPr/>
        <p:txBody>
          <a:bodyPr>
            <a:normAutofit fontScale="90000"/>
          </a:bodyPr>
          <a:lstStyle/>
          <a:p>
            <a:r>
              <a:rPr lang="en-MY" dirty="0"/>
              <a:t>Categories of AI </a:t>
            </a:r>
            <a:endParaRPr lang="en-GB" dirty="0"/>
          </a:p>
        </p:txBody>
      </p:sp>
      <p:sp>
        <p:nvSpPr>
          <p:cNvPr id="4" name="Slide Number Placeholder 3">
            <a:extLst>
              <a:ext uri="{FF2B5EF4-FFF2-40B4-BE49-F238E27FC236}">
                <a16:creationId xmlns:a16="http://schemas.microsoft.com/office/drawing/2014/main" id="{9929AC9B-708E-3010-1E2A-197B0B76C0C4}"/>
              </a:ext>
            </a:extLst>
          </p:cNvPr>
          <p:cNvSpPr>
            <a:spLocks noGrp="1"/>
          </p:cNvSpPr>
          <p:nvPr>
            <p:ph type="sldNum" sz="quarter" idx="12"/>
          </p:nvPr>
        </p:nvSpPr>
        <p:spPr/>
        <p:txBody>
          <a:bodyPr/>
          <a:lstStyle/>
          <a:p>
            <a:fld id="{C1FF6DA9-008F-8B48-92A6-B652298478BF}" type="slidenum">
              <a:rPr lang="en-US" smtClean="0"/>
              <a:t>16</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DE2C1E50-E8B1-C113-ADE0-0C74F0883AB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TextBox 5">
            <a:extLst>
              <a:ext uri="{FF2B5EF4-FFF2-40B4-BE49-F238E27FC236}">
                <a16:creationId xmlns:a16="http://schemas.microsoft.com/office/drawing/2014/main" id="{5782068C-5548-C626-5B22-F1E5D40AB137}"/>
              </a:ext>
            </a:extLst>
          </p:cNvPr>
          <p:cNvSpPr txBox="1"/>
          <p:nvPr/>
        </p:nvSpPr>
        <p:spPr>
          <a:xfrm>
            <a:off x="597531" y="1409856"/>
            <a:ext cx="7948937" cy="461665"/>
          </a:xfrm>
          <a:prstGeom prst="rect">
            <a:avLst/>
          </a:prstGeom>
          <a:noFill/>
        </p:spPr>
        <p:txBody>
          <a:bodyPr wrap="square">
            <a:spAutoFit/>
          </a:bodyPr>
          <a:lstStyle/>
          <a:p>
            <a:r>
              <a:rPr lang="en-MY" sz="2400" dirty="0"/>
              <a:t>Comparison Table</a:t>
            </a:r>
          </a:p>
        </p:txBody>
      </p:sp>
      <p:graphicFrame>
        <p:nvGraphicFramePr>
          <p:cNvPr id="5" name="Table 4">
            <a:extLst>
              <a:ext uri="{FF2B5EF4-FFF2-40B4-BE49-F238E27FC236}">
                <a16:creationId xmlns:a16="http://schemas.microsoft.com/office/drawing/2014/main" id="{AA3C3199-5D03-DA0C-B622-68764405F7F2}"/>
              </a:ext>
            </a:extLst>
          </p:cNvPr>
          <p:cNvGraphicFramePr>
            <a:graphicFrameLocks noGrp="1"/>
          </p:cNvGraphicFramePr>
          <p:nvPr>
            <p:extLst>
              <p:ext uri="{D42A27DB-BD31-4B8C-83A1-F6EECF244321}">
                <p14:modId xmlns:p14="http://schemas.microsoft.com/office/powerpoint/2010/main" val="4000658221"/>
              </p:ext>
            </p:extLst>
          </p:nvPr>
        </p:nvGraphicFramePr>
        <p:xfrm>
          <a:off x="348343" y="2080650"/>
          <a:ext cx="8527372" cy="3167472"/>
        </p:xfrm>
        <a:graphic>
          <a:graphicData uri="http://schemas.openxmlformats.org/drawingml/2006/table">
            <a:tbl>
              <a:tblPr firstRow="1" firstCol="1" bandRow="1">
                <a:tableStyleId>{5C22544A-7EE6-4342-B048-85BDC9FD1C3A}</a:tableStyleId>
              </a:tblPr>
              <a:tblGrid>
                <a:gridCol w="2131843">
                  <a:extLst>
                    <a:ext uri="{9D8B030D-6E8A-4147-A177-3AD203B41FA5}">
                      <a16:colId xmlns:a16="http://schemas.microsoft.com/office/drawing/2014/main" val="406216926"/>
                    </a:ext>
                  </a:extLst>
                </a:gridCol>
                <a:gridCol w="2131843">
                  <a:extLst>
                    <a:ext uri="{9D8B030D-6E8A-4147-A177-3AD203B41FA5}">
                      <a16:colId xmlns:a16="http://schemas.microsoft.com/office/drawing/2014/main" val="1456401776"/>
                    </a:ext>
                  </a:extLst>
                </a:gridCol>
                <a:gridCol w="2131843">
                  <a:extLst>
                    <a:ext uri="{9D8B030D-6E8A-4147-A177-3AD203B41FA5}">
                      <a16:colId xmlns:a16="http://schemas.microsoft.com/office/drawing/2014/main" val="1193168397"/>
                    </a:ext>
                  </a:extLst>
                </a:gridCol>
                <a:gridCol w="2131843">
                  <a:extLst>
                    <a:ext uri="{9D8B030D-6E8A-4147-A177-3AD203B41FA5}">
                      <a16:colId xmlns:a16="http://schemas.microsoft.com/office/drawing/2014/main" val="2464794773"/>
                    </a:ext>
                  </a:extLst>
                </a:gridCol>
              </a:tblGrid>
              <a:tr h="791868">
                <a:tc>
                  <a:txBody>
                    <a:bodyPr/>
                    <a:lstStyle/>
                    <a:p>
                      <a:pPr marL="0" marR="0">
                        <a:lnSpc>
                          <a:spcPct val="115000"/>
                        </a:lnSpc>
                        <a:spcAft>
                          <a:spcPts val="800"/>
                        </a:spcAft>
                        <a:buNone/>
                      </a:pPr>
                      <a:r>
                        <a:rPr lang="en-MY" sz="2000" kern="100">
                          <a:effectLst/>
                          <a:latin typeface="Times New Roman" panose="02020603050405020304" pitchFamily="18" charset="0"/>
                          <a:cs typeface="Times New Roman" panose="02020603050405020304" pitchFamily="18" charset="0"/>
                        </a:rPr>
                        <a:t>Feature</a:t>
                      </a:r>
                      <a:endParaRPr lang="en-MY"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MY" sz="2000" kern="100">
                          <a:effectLst/>
                          <a:latin typeface="Times New Roman" panose="02020603050405020304" pitchFamily="18" charset="0"/>
                          <a:cs typeface="Times New Roman" panose="02020603050405020304" pitchFamily="18" charset="0"/>
                        </a:rPr>
                        <a:t>Narrow AI</a:t>
                      </a:r>
                      <a:endParaRPr lang="en-MY"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MY" sz="2000" kern="100">
                          <a:effectLst/>
                          <a:latin typeface="Times New Roman" panose="02020603050405020304" pitchFamily="18" charset="0"/>
                          <a:cs typeface="Times New Roman" panose="02020603050405020304" pitchFamily="18" charset="0"/>
                        </a:rPr>
                        <a:t>Broad AI</a:t>
                      </a:r>
                      <a:endParaRPr lang="en-MY"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MY" sz="2000" kern="100">
                          <a:effectLst/>
                          <a:latin typeface="Times New Roman" panose="02020603050405020304" pitchFamily="18" charset="0"/>
                          <a:cs typeface="Times New Roman" panose="02020603050405020304" pitchFamily="18" charset="0"/>
                        </a:rPr>
                        <a:t>General AI</a:t>
                      </a:r>
                      <a:endParaRPr lang="en-MY"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19011676"/>
                  </a:ext>
                </a:extLst>
              </a:tr>
              <a:tr h="791868">
                <a:tc>
                  <a:txBody>
                    <a:bodyPr/>
                    <a:lstStyle/>
                    <a:p>
                      <a:pPr marL="0" marR="0">
                        <a:lnSpc>
                          <a:spcPct val="115000"/>
                        </a:lnSpc>
                        <a:spcAft>
                          <a:spcPts val="800"/>
                        </a:spcAft>
                        <a:buNone/>
                      </a:pPr>
                      <a:r>
                        <a:rPr lang="en-MY" sz="2000" kern="100">
                          <a:effectLst/>
                          <a:latin typeface="Times New Roman" panose="02020603050405020304" pitchFamily="18" charset="0"/>
                          <a:cs typeface="Times New Roman" panose="02020603050405020304" pitchFamily="18" charset="0"/>
                        </a:rPr>
                        <a:t>Scope</a:t>
                      </a:r>
                      <a:endParaRPr lang="en-MY"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MY" sz="2000" kern="100">
                          <a:effectLst/>
                          <a:latin typeface="Times New Roman" panose="02020603050405020304" pitchFamily="18" charset="0"/>
                          <a:cs typeface="Times New Roman" panose="02020603050405020304" pitchFamily="18" charset="0"/>
                        </a:rPr>
                        <a:t>Single task</a:t>
                      </a:r>
                      <a:endParaRPr lang="en-MY"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MY" sz="2000" kern="100">
                          <a:effectLst/>
                          <a:latin typeface="Times New Roman" panose="02020603050405020304" pitchFamily="18" charset="0"/>
                          <a:cs typeface="Times New Roman" panose="02020603050405020304" pitchFamily="18" charset="0"/>
                        </a:rPr>
                        <a:t>Multiple related tasks</a:t>
                      </a:r>
                      <a:endParaRPr lang="en-MY"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MY" sz="2000" kern="100">
                          <a:effectLst/>
                          <a:latin typeface="Times New Roman" panose="02020603050405020304" pitchFamily="18" charset="0"/>
                          <a:cs typeface="Times New Roman" panose="02020603050405020304" pitchFamily="18" charset="0"/>
                        </a:rPr>
                        <a:t>Any task like a human</a:t>
                      </a:r>
                      <a:endParaRPr lang="en-MY"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66657190"/>
                  </a:ext>
                </a:extLst>
              </a:tr>
              <a:tr h="791868">
                <a:tc>
                  <a:txBody>
                    <a:bodyPr/>
                    <a:lstStyle/>
                    <a:p>
                      <a:pPr marL="0" marR="0">
                        <a:lnSpc>
                          <a:spcPct val="115000"/>
                        </a:lnSpc>
                        <a:spcAft>
                          <a:spcPts val="800"/>
                        </a:spcAft>
                        <a:buNone/>
                      </a:pPr>
                      <a:r>
                        <a:rPr lang="en-MY" sz="2000" kern="100">
                          <a:effectLst/>
                          <a:latin typeface="Times New Roman" panose="02020603050405020304" pitchFamily="18" charset="0"/>
                          <a:cs typeface="Times New Roman" panose="02020603050405020304" pitchFamily="18" charset="0"/>
                        </a:rPr>
                        <a:t>Current Status</a:t>
                      </a:r>
                      <a:endParaRPr lang="en-MY"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MY" sz="2000" kern="100">
                          <a:effectLst/>
                          <a:latin typeface="Times New Roman" panose="02020603050405020304" pitchFamily="18" charset="0"/>
                          <a:cs typeface="Times New Roman" panose="02020603050405020304" pitchFamily="18" charset="0"/>
                        </a:rPr>
                        <a:t>Exists today</a:t>
                      </a:r>
                      <a:endParaRPr lang="en-MY"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MY" sz="2000" kern="100">
                          <a:effectLst/>
                          <a:latin typeface="Times New Roman" panose="02020603050405020304" pitchFamily="18" charset="0"/>
                          <a:cs typeface="Times New Roman" panose="02020603050405020304" pitchFamily="18" charset="0"/>
                        </a:rPr>
                        <a:t>Emerging</a:t>
                      </a:r>
                      <a:endParaRPr lang="en-MY"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MY" sz="2000" kern="100">
                          <a:effectLst/>
                          <a:latin typeface="Times New Roman" panose="02020603050405020304" pitchFamily="18" charset="0"/>
                          <a:cs typeface="Times New Roman" panose="02020603050405020304" pitchFamily="18" charset="0"/>
                        </a:rPr>
                        <a:t>Still theoretical</a:t>
                      </a:r>
                      <a:endParaRPr lang="en-MY"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34898203"/>
                  </a:ext>
                </a:extLst>
              </a:tr>
              <a:tr h="791868">
                <a:tc>
                  <a:txBody>
                    <a:bodyPr/>
                    <a:lstStyle/>
                    <a:p>
                      <a:pPr marL="0" marR="0">
                        <a:lnSpc>
                          <a:spcPct val="115000"/>
                        </a:lnSpc>
                        <a:spcAft>
                          <a:spcPts val="800"/>
                        </a:spcAft>
                        <a:buNone/>
                      </a:pPr>
                      <a:r>
                        <a:rPr lang="en-MY" sz="2000" kern="100">
                          <a:effectLst/>
                          <a:latin typeface="Times New Roman" panose="02020603050405020304" pitchFamily="18" charset="0"/>
                          <a:cs typeface="Times New Roman" panose="02020603050405020304" pitchFamily="18" charset="0"/>
                        </a:rPr>
                        <a:t>Examples</a:t>
                      </a:r>
                      <a:endParaRPr lang="en-MY"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MY" sz="2000" kern="100">
                          <a:effectLst/>
                          <a:latin typeface="Times New Roman" panose="02020603050405020304" pitchFamily="18" charset="0"/>
                          <a:cs typeface="Times New Roman" panose="02020603050405020304" pitchFamily="18" charset="0"/>
                        </a:rPr>
                        <a:t>Chatbots, Spam filter</a:t>
                      </a:r>
                      <a:endParaRPr lang="en-MY"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MY" sz="2000" kern="100">
                          <a:effectLst/>
                          <a:latin typeface="Times New Roman" panose="02020603050405020304" pitchFamily="18" charset="0"/>
                          <a:cs typeface="Times New Roman" panose="02020603050405020304" pitchFamily="18" charset="0"/>
                        </a:rPr>
                        <a:t>Healthcare AI, Self-driving cars</a:t>
                      </a:r>
                      <a:endParaRPr lang="en-MY"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MY" sz="2000" kern="100" dirty="0">
                          <a:effectLst/>
                          <a:latin typeface="Times New Roman" panose="02020603050405020304" pitchFamily="18" charset="0"/>
                          <a:cs typeface="Times New Roman" panose="02020603050405020304" pitchFamily="18" charset="0"/>
                        </a:rPr>
                        <a:t>Sci-fi robots, Jarvis</a:t>
                      </a:r>
                      <a:endParaRPr lang="en-MY"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50390911"/>
                  </a:ext>
                </a:extLst>
              </a:tr>
            </a:tbl>
          </a:graphicData>
        </a:graphic>
      </p:graphicFrame>
    </p:spTree>
    <p:extLst>
      <p:ext uri="{BB962C8B-B14F-4D97-AF65-F5344CB8AC3E}">
        <p14:creationId xmlns:p14="http://schemas.microsoft.com/office/powerpoint/2010/main" val="3970588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F6C65-9F3F-B283-331A-0DA38BCAA0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29465B-8E02-FAEF-1522-3C33FD82A5A8}"/>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Goals of Studying AI</a:t>
            </a:r>
          </a:p>
        </p:txBody>
      </p:sp>
      <p:sp>
        <p:nvSpPr>
          <p:cNvPr id="4" name="Slide Number Placeholder 3">
            <a:extLst>
              <a:ext uri="{FF2B5EF4-FFF2-40B4-BE49-F238E27FC236}">
                <a16:creationId xmlns:a16="http://schemas.microsoft.com/office/drawing/2014/main" id="{C8C90E2A-52CE-0199-A693-EE885CB6FF32}"/>
              </a:ext>
            </a:extLst>
          </p:cNvPr>
          <p:cNvSpPr>
            <a:spLocks noGrp="1"/>
          </p:cNvSpPr>
          <p:nvPr>
            <p:ph type="sldNum" sz="quarter" idx="12"/>
          </p:nvPr>
        </p:nvSpPr>
        <p:spPr/>
        <p:txBody>
          <a:bodyPr/>
          <a:lstStyle/>
          <a:p>
            <a:fld id="{C1FF6DA9-008F-8B48-92A6-B652298478BF}" type="slidenum">
              <a:rPr lang="en-US" smtClean="0"/>
              <a:t>17</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B8648C29-E873-BF5A-262C-ED6F43E9245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TextBox 4">
            <a:extLst>
              <a:ext uri="{FF2B5EF4-FFF2-40B4-BE49-F238E27FC236}">
                <a16:creationId xmlns:a16="http://schemas.microsoft.com/office/drawing/2014/main" id="{8B14C62D-2613-A35B-4678-FFF493BCE1E6}"/>
              </a:ext>
            </a:extLst>
          </p:cNvPr>
          <p:cNvSpPr txBox="1"/>
          <p:nvPr/>
        </p:nvSpPr>
        <p:spPr>
          <a:xfrm>
            <a:off x="466903" y="1593882"/>
            <a:ext cx="8514994" cy="3670236"/>
          </a:xfrm>
          <a:prstGeom prst="rect">
            <a:avLst/>
          </a:prstGeom>
          <a:noFill/>
        </p:spPr>
        <p:txBody>
          <a:bodyPr wrap="square">
            <a:spAutoFit/>
          </a:bodyPr>
          <a:lstStyle/>
          <a:p>
            <a:pPr algn="just">
              <a:spcBef>
                <a:spcPts val="1029"/>
              </a:spcBef>
              <a:spcAft>
                <a:spcPts val="1029"/>
              </a:spcAft>
              <a:buFont typeface="+mj-lt"/>
              <a:buAutoNum type="arabicPeriod"/>
            </a:pPr>
            <a:r>
              <a:rPr lang="en-MY" sz="2500" b="1" i="0" dirty="0">
                <a:solidFill>
                  <a:srgbClr val="404040"/>
                </a:solidFill>
                <a:effectLst/>
                <a:latin typeface="Times New Roman" panose="02020603050405020304" pitchFamily="18" charset="0"/>
                <a:cs typeface="Times New Roman" panose="02020603050405020304" pitchFamily="18" charset="0"/>
              </a:rPr>
              <a:t>Learn AI Basics</a:t>
            </a:r>
            <a:r>
              <a:rPr lang="en-MY" sz="2500" b="0" i="0" dirty="0">
                <a:solidFill>
                  <a:srgbClr val="404040"/>
                </a:solidFill>
                <a:effectLst/>
                <a:latin typeface="Times New Roman" panose="02020603050405020304" pitchFamily="18" charset="0"/>
                <a:cs typeface="Times New Roman" panose="02020603050405020304" pitchFamily="18" charset="0"/>
              </a:rPr>
              <a:t> – Understand machine learning, neural networks, and data science.</a:t>
            </a:r>
          </a:p>
          <a:p>
            <a:pPr algn="just">
              <a:spcBef>
                <a:spcPts val="300"/>
              </a:spcBef>
              <a:spcAft>
                <a:spcPts val="1029"/>
              </a:spcAft>
              <a:buFont typeface="+mj-lt"/>
              <a:buAutoNum type="arabicPeriod"/>
            </a:pPr>
            <a:r>
              <a:rPr lang="en-MY" sz="2500" b="1" i="0" dirty="0">
                <a:solidFill>
                  <a:srgbClr val="404040"/>
                </a:solidFill>
                <a:effectLst/>
                <a:latin typeface="Times New Roman" panose="02020603050405020304" pitchFamily="18" charset="0"/>
                <a:cs typeface="Times New Roman" panose="02020603050405020304" pitchFamily="18" charset="0"/>
              </a:rPr>
              <a:t>Build Smart Systems</a:t>
            </a:r>
            <a:r>
              <a:rPr lang="en-MY" sz="2500" b="0" i="0" dirty="0">
                <a:solidFill>
                  <a:srgbClr val="404040"/>
                </a:solidFill>
                <a:effectLst/>
                <a:latin typeface="Times New Roman" panose="02020603050405020304" pitchFamily="18" charset="0"/>
                <a:cs typeface="Times New Roman" panose="02020603050405020304" pitchFamily="18" charset="0"/>
              </a:rPr>
              <a:t> – Create AI for automation, robotics, and decision-making.</a:t>
            </a:r>
          </a:p>
          <a:p>
            <a:pPr algn="just">
              <a:spcBef>
                <a:spcPts val="300"/>
              </a:spcBef>
              <a:spcAft>
                <a:spcPts val="1029"/>
              </a:spcAft>
              <a:buFont typeface="+mj-lt"/>
              <a:buAutoNum type="arabicPeriod"/>
            </a:pPr>
            <a:r>
              <a:rPr lang="en-MY" sz="2500" b="1" i="0" dirty="0">
                <a:solidFill>
                  <a:srgbClr val="404040"/>
                </a:solidFill>
                <a:effectLst/>
                <a:latin typeface="Times New Roman" panose="02020603050405020304" pitchFamily="18" charset="0"/>
                <a:cs typeface="Times New Roman" panose="02020603050405020304" pitchFamily="18" charset="0"/>
              </a:rPr>
              <a:t>Solve Real Problems</a:t>
            </a:r>
            <a:r>
              <a:rPr lang="en-MY" sz="2500" b="0" i="0" dirty="0">
                <a:solidFill>
                  <a:srgbClr val="404040"/>
                </a:solidFill>
                <a:effectLst/>
                <a:latin typeface="Times New Roman" panose="02020603050405020304" pitchFamily="18" charset="0"/>
                <a:cs typeface="Times New Roman" panose="02020603050405020304" pitchFamily="18" charset="0"/>
              </a:rPr>
              <a:t> – Apply AI in healthcare, finance, and cybersecurity.</a:t>
            </a:r>
          </a:p>
          <a:p>
            <a:pPr algn="just">
              <a:spcBef>
                <a:spcPts val="300"/>
              </a:spcBef>
              <a:spcAft>
                <a:spcPts val="1029"/>
              </a:spcAft>
              <a:buFont typeface="+mj-lt"/>
              <a:buAutoNum type="arabicPeriod"/>
            </a:pPr>
            <a:r>
              <a:rPr lang="en-MY" sz="2500" b="1" i="0" dirty="0">
                <a:solidFill>
                  <a:srgbClr val="404040"/>
                </a:solidFill>
                <a:effectLst/>
                <a:latin typeface="Times New Roman" panose="02020603050405020304" pitchFamily="18" charset="0"/>
                <a:cs typeface="Times New Roman" panose="02020603050405020304" pitchFamily="18" charset="0"/>
              </a:rPr>
              <a:t>Improve Human-AI Interaction</a:t>
            </a:r>
            <a:r>
              <a:rPr lang="en-MY" sz="2500" b="0" i="0" dirty="0">
                <a:solidFill>
                  <a:srgbClr val="404040"/>
                </a:solidFill>
                <a:effectLst/>
                <a:latin typeface="Times New Roman" panose="02020603050405020304" pitchFamily="18" charset="0"/>
                <a:cs typeface="Times New Roman" panose="02020603050405020304" pitchFamily="18" charset="0"/>
              </a:rPr>
              <a:t> – Develop chatbots, voice assistants, and emotion-aware AI.</a:t>
            </a:r>
          </a:p>
        </p:txBody>
      </p:sp>
    </p:spTree>
    <p:extLst>
      <p:ext uri="{BB962C8B-B14F-4D97-AF65-F5344CB8AC3E}">
        <p14:creationId xmlns:p14="http://schemas.microsoft.com/office/powerpoint/2010/main" val="4015054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AFC9C-AEFE-FC50-199C-4A47F100EC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02AEE-9DB4-A763-E367-3CC26CDC8E6A}"/>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Goals of Studying AI</a:t>
            </a:r>
          </a:p>
        </p:txBody>
      </p:sp>
      <p:sp>
        <p:nvSpPr>
          <p:cNvPr id="4" name="Slide Number Placeholder 3">
            <a:extLst>
              <a:ext uri="{FF2B5EF4-FFF2-40B4-BE49-F238E27FC236}">
                <a16:creationId xmlns:a16="http://schemas.microsoft.com/office/drawing/2014/main" id="{0EDFCA88-E5AC-C48F-BB6C-569642EDFB88}"/>
              </a:ext>
            </a:extLst>
          </p:cNvPr>
          <p:cNvSpPr>
            <a:spLocks noGrp="1"/>
          </p:cNvSpPr>
          <p:nvPr>
            <p:ph type="sldNum" sz="quarter" idx="12"/>
          </p:nvPr>
        </p:nvSpPr>
        <p:spPr/>
        <p:txBody>
          <a:bodyPr/>
          <a:lstStyle/>
          <a:p>
            <a:fld id="{C1FF6DA9-008F-8B48-92A6-B652298478BF}" type="slidenum">
              <a:rPr lang="en-US" smtClean="0"/>
              <a:t>18</a:t>
            </a:fld>
            <a:endParaRPr lang="en-US"/>
          </a:p>
        </p:txBody>
      </p:sp>
      <p:sp>
        <p:nvSpPr>
          <p:cNvPr id="5" name="TextBox 4">
            <a:extLst>
              <a:ext uri="{FF2B5EF4-FFF2-40B4-BE49-F238E27FC236}">
                <a16:creationId xmlns:a16="http://schemas.microsoft.com/office/drawing/2014/main" id="{DD804473-8667-96A5-91D6-C435F5F358BD}"/>
              </a:ext>
            </a:extLst>
          </p:cNvPr>
          <p:cNvSpPr txBox="1"/>
          <p:nvPr/>
        </p:nvSpPr>
        <p:spPr>
          <a:xfrm>
            <a:off x="581192" y="1298295"/>
            <a:ext cx="8514994" cy="3819122"/>
          </a:xfrm>
          <a:prstGeom prst="rect">
            <a:avLst/>
          </a:prstGeom>
          <a:noFill/>
        </p:spPr>
        <p:txBody>
          <a:bodyPr wrap="square">
            <a:spAutoFit/>
          </a:bodyPr>
          <a:lstStyle/>
          <a:p>
            <a:pPr algn="l">
              <a:lnSpc>
                <a:spcPct val="150000"/>
              </a:lnSpc>
              <a:spcBef>
                <a:spcPts val="300"/>
              </a:spcBef>
              <a:spcAft>
                <a:spcPts val="1029"/>
              </a:spcAft>
            </a:pPr>
            <a:r>
              <a:rPr lang="en-MY" sz="2500" b="1" dirty="0">
                <a:solidFill>
                  <a:srgbClr val="404040"/>
                </a:solidFill>
                <a:latin typeface="Times New Roman" panose="02020603050405020304" pitchFamily="18" charset="0"/>
                <a:cs typeface="Times New Roman" panose="02020603050405020304" pitchFamily="18" charset="0"/>
              </a:rPr>
              <a:t>5. </a:t>
            </a:r>
            <a:r>
              <a:rPr lang="en-MY" sz="2500" b="1" i="0" dirty="0">
                <a:solidFill>
                  <a:srgbClr val="404040"/>
                </a:solidFill>
                <a:effectLst/>
                <a:latin typeface="Times New Roman" panose="02020603050405020304" pitchFamily="18" charset="0"/>
                <a:cs typeface="Times New Roman" panose="02020603050405020304" pitchFamily="18" charset="0"/>
              </a:rPr>
              <a:t>Ensure Ethical AI</a:t>
            </a:r>
            <a:r>
              <a:rPr lang="en-MY" sz="2500" b="0" i="0" dirty="0">
                <a:solidFill>
                  <a:srgbClr val="404040"/>
                </a:solidFill>
                <a:effectLst/>
                <a:latin typeface="Times New Roman" panose="02020603050405020304" pitchFamily="18" charset="0"/>
                <a:cs typeface="Times New Roman" panose="02020603050405020304" pitchFamily="18" charset="0"/>
              </a:rPr>
              <a:t> – </a:t>
            </a:r>
            <a:r>
              <a:rPr lang="en-MY" sz="2500" dirty="0">
                <a:solidFill>
                  <a:srgbClr val="404040"/>
                </a:solidFill>
                <a:latin typeface="Times New Roman" panose="02020603050405020304" pitchFamily="18" charset="0"/>
                <a:cs typeface="Times New Roman" panose="02020603050405020304" pitchFamily="18" charset="0"/>
              </a:rPr>
              <a:t>Prevent</a:t>
            </a:r>
            <a:r>
              <a:rPr lang="en-MY" sz="2500" b="0" i="0" dirty="0">
                <a:solidFill>
                  <a:srgbClr val="404040"/>
                </a:solidFill>
                <a:effectLst/>
                <a:latin typeface="Times New Roman" panose="02020603050405020304" pitchFamily="18" charset="0"/>
                <a:cs typeface="Times New Roman" panose="02020603050405020304" pitchFamily="18" charset="0"/>
              </a:rPr>
              <a:t> bias, ensure fairness, and protect privacy.</a:t>
            </a:r>
          </a:p>
          <a:p>
            <a:pPr algn="l">
              <a:lnSpc>
                <a:spcPct val="150000"/>
              </a:lnSpc>
              <a:spcBef>
                <a:spcPts val="300"/>
              </a:spcBef>
              <a:spcAft>
                <a:spcPts val="1029"/>
              </a:spcAft>
            </a:pPr>
            <a:r>
              <a:rPr lang="en-MY" sz="2500" b="1" dirty="0">
                <a:solidFill>
                  <a:srgbClr val="404040"/>
                </a:solidFill>
                <a:latin typeface="Times New Roman" panose="02020603050405020304" pitchFamily="18" charset="0"/>
                <a:cs typeface="Times New Roman" panose="02020603050405020304" pitchFamily="18" charset="0"/>
              </a:rPr>
              <a:t>6. Drive Innovation – </a:t>
            </a:r>
            <a:r>
              <a:rPr lang="en-MY" sz="2500" b="0" i="0" dirty="0">
                <a:solidFill>
                  <a:srgbClr val="404040"/>
                </a:solidFill>
                <a:effectLst/>
                <a:latin typeface="Times New Roman" panose="02020603050405020304" pitchFamily="18" charset="0"/>
                <a:cs typeface="Times New Roman" panose="02020603050405020304" pitchFamily="18" charset="0"/>
              </a:rPr>
              <a:t>Research advanced AI (AGI, quantum AI, generative AI).</a:t>
            </a:r>
          </a:p>
          <a:p>
            <a:pPr algn="l">
              <a:lnSpc>
                <a:spcPct val="150000"/>
              </a:lnSpc>
              <a:spcBef>
                <a:spcPts val="300"/>
              </a:spcBef>
              <a:spcAft>
                <a:spcPts val="1029"/>
              </a:spcAft>
            </a:pPr>
            <a:r>
              <a:rPr lang="en-MY" sz="2500" b="1" dirty="0">
                <a:solidFill>
                  <a:srgbClr val="404040"/>
                </a:solidFill>
                <a:latin typeface="Times New Roman" panose="02020603050405020304" pitchFamily="18" charset="0"/>
                <a:cs typeface="Times New Roman" panose="02020603050405020304" pitchFamily="18" charset="0"/>
              </a:rPr>
              <a:t>7. Boost </a:t>
            </a:r>
            <a:r>
              <a:rPr lang="en-MY" sz="2500" b="1" i="0" dirty="0">
                <a:solidFill>
                  <a:srgbClr val="404040"/>
                </a:solidFill>
                <a:effectLst/>
                <a:latin typeface="Times New Roman" panose="02020603050405020304" pitchFamily="18" charset="0"/>
                <a:cs typeface="Times New Roman" panose="02020603050405020304" pitchFamily="18" charset="0"/>
              </a:rPr>
              <a:t>Career</a:t>
            </a:r>
            <a:r>
              <a:rPr lang="en-MY" sz="2500" b="0" i="0" dirty="0">
                <a:solidFill>
                  <a:srgbClr val="404040"/>
                </a:solidFill>
                <a:effectLst/>
                <a:latin typeface="Times New Roman" panose="02020603050405020304" pitchFamily="18" charset="0"/>
                <a:cs typeface="Times New Roman" panose="02020603050405020304" pitchFamily="18" charset="0"/>
              </a:rPr>
              <a:t> – Prepare for high-demand AI jobs and tech advancements.</a:t>
            </a:r>
          </a:p>
        </p:txBody>
      </p:sp>
    </p:spTree>
    <p:extLst>
      <p:ext uri="{BB962C8B-B14F-4D97-AF65-F5344CB8AC3E}">
        <p14:creationId xmlns:p14="http://schemas.microsoft.com/office/powerpoint/2010/main" val="2700652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5F172-62E2-D300-3873-E9A4496A81E2}"/>
              </a:ext>
            </a:extLst>
          </p:cNvPr>
          <p:cNvSpPr>
            <a:spLocks noGrp="1"/>
          </p:cNvSpPr>
          <p:nvPr>
            <p:ph type="title"/>
          </p:nvPr>
        </p:nvSpPr>
        <p:spPr/>
        <p:txBody>
          <a:bodyPr>
            <a:normAutofit fontScale="90000"/>
          </a:bodyPr>
          <a:lstStyle/>
          <a:p>
            <a:r>
              <a:rPr lang="en-US" b="1" dirty="0"/>
              <a:t>Branches of AI</a:t>
            </a:r>
            <a:endParaRPr lang="en-MY" dirty="0"/>
          </a:p>
        </p:txBody>
      </p:sp>
      <p:sp>
        <p:nvSpPr>
          <p:cNvPr id="4" name="Slide Number Placeholder 3">
            <a:extLst>
              <a:ext uri="{FF2B5EF4-FFF2-40B4-BE49-F238E27FC236}">
                <a16:creationId xmlns:a16="http://schemas.microsoft.com/office/drawing/2014/main" id="{F0858143-4B20-88F7-1DD2-8573BE7E2ED8}"/>
              </a:ext>
            </a:extLst>
          </p:cNvPr>
          <p:cNvSpPr>
            <a:spLocks noGrp="1"/>
          </p:cNvSpPr>
          <p:nvPr>
            <p:ph type="sldNum" sz="quarter" idx="12"/>
          </p:nvPr>
        </p:nvSpPr>
        <p:spPr/>
        <p:txBody>
          <a:bodyPr/>
          <a:lstStyle/>
          <a:p>
            <a:fld id="{C1FF6DA9-008F-8B48-92A6-B652298478BF}" type="slidenum">
              <a:rPr lang="en-US" smtClean="0"/>
              <a:t>19</a:t>
            </a:fld>
            <a:endParaRPr lang="en-US"/>
          </a:p>
        </p:txBody>
      </p:sp>
      <p:sp>
        <p:nvSpPr>
          <p:cNvPr id="6" name="TextBox 5">
            <a:extLst>
              <a:ext uri="{FF2B5EF4-FFF2-40B4-BE49-F238E27FC236}">
                <a16:creationId xmlns:a16="http://schemas.microsoft.com/office/drawing/2014/main" id="{5A1AB487-B924-A697-122E-45B056AEA0AD}"/>
              </a:ext>
            </a:extLst>
          </p:cNvPr>
          <p:cNvSpPr txBox="1"/>
          <p:nvPr/>
        </p:nvSpPr>
        <p:spPr>
          <a:xfrm>
            <a:off x="754840" y="1433467"/>
            <a:ext cx="8097611" cy="4093428"/>
          </a:xfrm>
          <a:prstGeom prst="rect">
            <a:avLst/>
          </a:prstGeom>
          <a:noFill/>
        </p:spPr>
        <p:txBody>
          <a:bodyPr wrap="square">
            <a:spAutoFit/>
          </a:bodyPr>
          <a:lstStyle/>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Machine Learning (ML):</a:t>
            </a:r>
            <a:r>
              <a:rPr lang="en-US" sz="20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Trains algorithms on data to learn without explicit instructions.</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Includes supervised learning, unsupervised learning, and reinforcement learning.</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Deep Learning:</a:t>
            </a:r>
            <a:r>
              <a:rPr lang="en-US" sz="20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type of ML using neural networks with multiple layers for complex pattern recognition.</a:t>
            </a:r>
          </a:p>
          <a:p>
            <a:pPr marL="742950" lvl="1"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Natural Language Processing (NLP):</a:t>
            </a:r>
            <a:r>
              <a:rPr lang="en-US" sz="20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Enables computers to understand, interpret, and generate human language.</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Includes text analytics and language generation.</a:t>
            </a:r>
          </a:p>
          <a:p>
            <a:pPr lvl="1"/>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1150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6FCA9-C7E1-1AF3-185F-BBBB7EC981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D6ECC2-0D74-24DF-3BD1-12C0AC4B3D41}"/>
              </a:ext>
            </a:extLst>
          </p:cNvPr>
          <p:cNvSpPr>
            <a:spLocks noGrp="1"/>
          </p:cNvSpPr>
          <p:nvPr>
            <p:ph type="title"/>
          </p:nvPr>
        </p:nvSpPr>
        <p:spPr/>
        <p:txBody>
          <a:bodyPr>
            <a:normAutofit fontScale="90000"/>
          </a:bodyPr>
          <a:lstStyle/>
          <a:p>
            <a:r>
              <a:rPr lang="en-US" b="1" dirty="0"/>
              <a:t>Branches of AI</a:t>
            </a:r>
            <a:endParaRPr lang="en-MY" dirty="0"/>
          </a:p>
        </p:txBody>
      </p:sp>
      <p:sp>
        <p:nvSpPr>
          <p:cNvPr id="3" name="Content Placeholder 2">
            <a:extLst>
              <a:ext uri="{FF2B5EF4-FFF2-40B4-BE49-F238E27FC236}">
                <a16:creationId xmlns:a16="http://schemas.microsoft.com/office/drawing/2014/main" id="{7CB30726-0A00-6254-4E4B-54D34D5F7791}"/>
              </a:ext>
            </a:extLst>
          </p:cNvPr>
          <p:cNvSpPr>
            <a:spLocks noGrp="1"/>
          </p:cNvSpPr>
          <p:nvPr>
            <p:ph idx="1"/>
          </p:nvPr>
        </p:nvSpPr>
        <p:spPr>
          <a:xfrm>
            <a:off x="581192" y="1509984"/>
            <a:ext cx="7989752" cy="3630795"/>
          </a:xfrm>
        </p:spPr>
        <p:txBody>
          <a:bodyPr>
            <a:noAutofit/>
          </a:bodyPr>
          <a:lstStyle/>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Computer Vision:</a:t>
            </a:r>
            <a:r>
              <a:rPr lang="en-US" sz="20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Allows computers to "see" and understand images.</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Used in object detection, facial recognition, and medical imaging analysis.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Robotics and Autonomous Systems:</a:t>
            </a:r>
            <a:r>
              <a:rPr lang="en-US" sz="20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Combines perception, planning, and control for physical interaction.</a:t>
            </a:r>
          </a:p>
          <a:p>
            <a:pPr marL="0" indent="0">
              <a:buNone/>
            </a:pPr>
            <a:endParaRPr lang="en-MY"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036B9B4-F64D-8D3B-6242-C095D04D965D}"/>
              </a:ext>
            </a:extLst>
          </p:cNvPr>
          <p:cNvSpPr>
            <a:spLocks noGrp="1"/>
          </p:cNvSpPr>
          <p:nvPr>
            <p:ph type="sldNum" sz="quarter" idx="12"/>
          </p:nvPr>
        </p:nvSpPr>
        <p:spPr/>
        <p:txBody>
          <a:bodyPr/>
          <a:lstStyle/>
          <a:p>
            <a:fld id="{C1FF6DA9-008F-8B48-92A6-B652298478BF}" type="slidenum">
              <a:rPr lang="en-US" smtClean="0"/>
              <a:t>20</a:t>
            </a:fld>
            <a:endParaRPr lang="en-US"/>
          </a:p>
        </p:txBody>
      </p:sp>
    </p:spTree>
    <p:extLst>
      <p:ext uri="{BB962C8B-B14F-4D97-AF65-F5344CB8AC3E}">
        <p14:creationId xmlns:p14="http://schemas.microsoft.com/office/powerpoint/2010/main" val="4042149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48B8B-77A8-1140-44E1-2C9D70A72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5A51A-6C51-205B-B4EC-1A6D72ED2A84}"/>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Applications of AI in the Real World</a:t>
            </a:r>
          </a:p>
        </p:txBody>
      </p:sp>
      <p:sp>
        <p:nvSpPr>
          <p:cNvPr id="4" name="Slide Number Placeholder 3">
            <a:extLst>
              <a:ext uri="{FF2B5EF4-FFF2-40B4-BE49-F238E27FC236}">
                <a16:creationId xmlns:a16="http://schemas.microsoft.com/office/drawing/2014/main" id="{EEDB78DD-3518-85A5-BCE3-D2CF4513EE00}"/>
              </a:ext>
            </a:extLst>
          </p:cNvPr>
          <p:cNvSpPr>
            <a:spLocks noGrp="1"/>
          </p:cNvSpPr>
          <p:nvPr>
            <p:ph type="sldNum" sz="quarter" idx="12"/>
          </p:nvPr>
        </p:nvSpPr>
        <p:spPr/>
        <p:txBody>
          <a:bodyPr/>
          <a:lstStyle/>
          <a:p>
            <a:fld id="{C1FF6DA9-008F-8B48-92A6-B652298478BF}" type="slidenum">
              <a:rPr lang="en-US" smtClean="0"/>
              <a:t>21</a:t>
            </a:fld>
            <a:endParaRPr lang="en-US"/>
          </a:p>
        </p:txBody>
      </p:sp>
      <p:pic>
        <p:nvPicPr>
          <p:cNvPr id="1027" name="Picture 3" descr="Real World Artificial Intelligence Applications in various sectors. -  TechVidvan">
            <a:extLst>
              <a:ext uri="{FF2B5EF4-FFF2-40B4-BE49-F238E27FC236}">
                <a16:creationId xmlns:a16="http://schemas.microsoft.com/office/drawing/2014/main" id="{C8EB4E3E-9D8D-3D42-5D82-663A8BCBD8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475" y="1428750"/>
            <a:ext cx="7639050" cy="400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16276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BAF2B-7EDF-E88B-1A37-E56F46E15A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001637-5A51-F9F8-D96C-13CD6B8EEBF8}"/>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Applications of AI in the Real World</a:t>
            </a:r>
          </a:p>
        </p:txBody>
      </p:sp>
      <p:sp>
        <p:nvSpPr>
          <p:cNvPr id="4" name="Slide Number Placeholder 3">
            <a:extLst>
              <a:ext uri="{FF2B5EF4-FFF2-40B4-BE49-F238E27FC236}">
                <a16:creationId xmlns:a16="http://schemas.microsoft.com/office/drawing/2014/main" id="{C98BA03E-1D4C-F6D5-5108-DB3C493A7CD4}"/>
              </a:ext>
            </a:extLst>
          </p:cNvPr>
          <p:cNvSpPr>
            <a:spLocks noGrp="1"/>
          </p:cNvSpPr>
          <p:nvPr>
            <p:ph type="sldNum" sz="quarter" idx="12"/>
          </p:nvPr>
        </p:nvSpPr>
        <p:spPr/>
        <p:txBody>
          <a:bodyPr/>
          <a:lstStyle/>
          <a:p>
            <a:fld id="{C1FF6DA9-008F-8B48-92A6-B652298478BF}" type="slidenum">
              <a:rPr lang="en-US" smtClean="0"/>
              <a:t>22</a:t>
            </a:fld>
            <a:endParaRPr lang="en-US"/>
          </a:p>
        </p:txBody>
      </p:sp>
      <p:sp>
        <p:nvSpPr>
          <p:cNvPr id="5" name="TextBox 4">
            <a:extLst>
              <a:ext uri="{FF2B5EF4-FFF2-40B4-BE49-F238E27FC236}">
                <a16:creationId xmlns:a16="http://schemas.microsoft.com/office/drawing/2014/main" id="{22A8A72E-D1AE-4356-A48A-59AB81964218}"/>
              </a:ext>
            </a:extLst>
          </p:cNvPr>
          <p:cNvSpPr txBox="1"/>
          <p:nvPr/>
        </p:nvSpPr>
        <p:spPr>
          <a:xfrm>
            <a:off x="581192" y="1298295"/>
            <a:ext cx="8514994" cy="4708981"/>
          </a:xfrm>
          <a:prstGeom prst="rect">
            <a:avLst/>
          </a:prstGeom>
          <a:noFill/>
        </p:spPr>
        <p:txBody>
          <a:bodyPr wrap="square">
            <a:spAutoFit/>
          </a:bodyPr>
          <a:lstStyle/>
          <a:p>
            <a:pPr>
              <a:buNone/>
            </a:pPr>
            <a:r>
              <a:rPr lang="en-US" sz="2500" dirty="0">
                <a:latin typeface="Times New Roman" panose="02020603050405020304" pitchFamily="18" charset="0"/>
                <a:cs typeface="Times New Roman" panose="02020603050405020304" pitchFamily="18" charset="0"/>
              </a:rPr>
              <a:t>Artificial intelligence is being applied across a vast array of sectors and in everyday life:</a:t>
            </a:r>
          </a:p>
          <a:p>
            <a:pPr>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Healthcare:</a:t>
            </a:r>
            <a:r>
              <a:rPr lang="en-US" sz="2500" dirty="0">
                <a:latin typeface="Times New Roman" panose="02020603050405020304" pitchFamily="18" charset="0"/>
                <a:cs typeface="Times New Roman" panose="02020603050405020304" pitchFamily="18" charset="0"/>
              </a:rPr>
              <a:t> AI assists in diagnosing diseases (e.g., diabetic retinopathy), analyzing medical images, drug discovery, and personalized treatment plans.</a:t>
            </a:r>
          </a:p>
          <a:p>
            <a:pPr>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Finance:</a:t>
            </a:r>
            <a:r>
              <a:rPr lang="en-US" sz="2500" dirty="0">
                <a:latin typeface="Times New Roman" panose="02020603050405020304" pitchFamily="18" charset="0"/>
                <a:cs typeface="Times New Roman" panose="02020603050405020304" pitchFamily="18" charset="0"/>
              </a:rPr>
              <a:t> AI is used for fraud detection by identifying unusual patterns in transactions, algorithmic trading, credit scoring, and personalized financial advice.</a:t>
            </a:r>
          </a:p>
          <a:p>
            <a:pPr>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Industry (Manufacturing &amp; Supply Chains):</a:t>
            </a:r>
            <a:r>
              <a:rPr lang="en-US" sz="2500" dirty="0">
                <a:latin typeface="Times New Roman" panose="02020603050405020304" pitchFamily="18" charset="0"/>
                <a:cs typeface="Times New Roman" panose="02020603050405020304" pitchFamily="18" charset="0"/>
              </a:rPr>
              <a:t> Applications include predictive maintenance to anticipate equipment failure, optimizing logistics and supply chain routes, quality control, and automation of manufacturing processes.</a:t>
            </a:r>
          </a:p>
        </p:txBody>
      </p:sp>
    </p:spTree>
    <p:extLst>
      <p:ext uri="{BB962C8B-B14F-4D97-AF65-F5344CB8AC3E}">
        <p14:creationId xmlns:p14="http://schemas.microsoft.com/office/powerpoint/2010/main" val="25031970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443BC-E3C1-7688-336D-556F1EA4B6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57499-AE22-6284-C854-4890C6F36064}"/>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Applications of AI in the Real World</a:t>
            </a:r>
          </a:p>
        </p:txBody>
      </p:sp>
      <p:sp>
        <p:nvSpPr>
          <p:cNvPr id="4" name="Slide Number Placeholder 3">
            <a:extLst>
              <a:ext uri="{FF2B5EF4-FFF2-40B4-BE49-F238E27FC236}">
                <a16:creationId xmlns:a16="http://schemas.microsoft.com/office/drawing/2014/main" id="{0D1DB0C0-562E-2823-BB21-A6635D4EA448}"/>
              </a:ext>
            </a:extLst>
          </p:cNvPr>
          <p:cNvSpPr>
            <a:spLocks noGrp="1"/>
          </p:cNvSpPr>
          <p:nvPr>
            <p:ph type="sldNum" sz="quarter" idx="12"/>
          </p:nvPr>
        </p:nvSpPr>
        <p:spPr/>
        <p:txBody>
          <a:bodyPr/>
          <a:lstStyle/>
          <a:p>
            <a:fld id="{C1FF6DA9-008F-8B48-92A6-B652298478BF}" type="slidenum">
              <a:rPr lang="en-US" smtClean="0"/>
              <a:t>23</a:t>
            </a:fld>
            <a:endParaRPr lang="en-US"/>
          </a:p>
        </p:txBody>
      </p:sp>
      <p:sp>
        <p:nvSpPr>
          <p:cNvPr id="7" name="Rectangle 2">
            <a:extLst>
              <a:ext uri="{FF2B5EF4-FFF2-40B4-BE49-F238E27FC236}">
                <a16:creationId xmlns:a16="http://schemas.microsoft.com/office/drawing/2014/main" id="{1C67CCC8-CA94-3E51-1EC0-A5A3F2F18506}"/>
              </a:ext>
            </a:extLst>
          </p:cNvPr>
          <p:cNvSpPr>
            <a:spLocks noChangeArrowheads="1"/>
          </p:cNvSpPr>
          <p:nvPr/>
        </p:nvSpPr>
        <p:spPr bwMode="auto">
          <a:xfrm>
            <a:off x="472542" y="1265923"/>
            <a:ext cx="8327791"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Retail and E-commerce: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AI powers customer service chatbots, provides personalized product recommendations, optimizes inventory management, and enhances fraud prevention.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Warehouses and Logistics: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Self-driving vehicles and intelligent robots are used for efficient sorting, movement, and management of goods.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Daily Life: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AI is embedded in smartphones (voice assistants, facial recognition), recommendation systems (streaming services, online shopping), smart home devices, and spam filters.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Other Sectors: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AI is also applied in areas like education (intelligent tutoring systems), agriculture (precision farming), transportation (autonomous vehicles), and security (surveillance and threat detection). </a:t>
            </a:r>
          </a:p>
        </p:txBody>
      </p:sp>
    </p:spTree>
    <p:extLst>
      <p:ext uri="{BB962C8B-B14F-4D97-AF65-F5344CB8AC3E}">
        <p14:creationId xmlns:p14="http://schemas.microsoft.com/office/powerpoint/2010/main" val="15297008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BC647-167C-7218-CADB-4618F7C5FE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AE810-4495-DAC8-023D-AD3554AD9BCF}"/>
              </a:ext>
            </a:extLst>
          </p:cNvPr>
          <p:cNvSpPr>
            <a:spLocks noGrp="1"/>
          </p:cNvSpPr>
          <p:nvPr>
            <p:ph type="title"/>
          </p:nvPr>
        </p:nvSpPr>
        <p:spPr/>
        <p:txBody>
          <a:bodyPr>
            <a:normAutofit fontScale="90000"/>
          </a:bodyPr>
          <a:lstStyle/>
          <a:p>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r>
              <a:rPr lang="en-US" sz="2700" b="1" dirty="0">
                <a:latin typeface="Times New Roman" panose="02020603050405020304" pitchFamily="18" charset="0"/>
                <a:cs typeface="Times New Roman" panose="02020603050405020304" pitchFamily="18" charset="0"/>
              </a:rPr>
              <a:t>Challenges and Future Trends in Applied AI</a:t>
            </a:r>
            <a:endParaRPr lang="en-MY" sz="2700" dirty="0"/>
          </a:p>
        </p:txBody>
      </p:sp>
      <p:sp>
        <p:nvSpPr>
          <p:cNvPr id="3" name="Content Placeholder 2">
            <a:extLst>
              <a:ext uri="{FF2B5EF4-FFF2-40B4-BE49-F238E27FC236}">
                <a16:creationId xmlns:a16="http://schemas.microsoft.com/office/drawing/2014/main" id="{09B483D4-F5D6-3EAE-4C25-4E38CD5CA65C}"/>
              </a:ext>
            </a:extLst>
          </p:cNvPr>
          <p:cNvSpPr>
            <a:spLocks noGrp="1"/>
          </p:cNvSpPr>
          <p:nvPr>
            <p:ph idx="1"/>
          </p:nvPr>
        </p:nvSpPr>
        <p:spPr>
          <a:xfrm>
            <a:off x="477465" y="1331711"/>
            <a:ext cx="7989752" cy="4686648"/>
          </a:xfrm>
        </p:spPr>
        <p:txBody>
          <a:bodyPr>
            <a:noAutofit/>
          </a:bodyPr>
          <a:lstStyle/>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Current Challenges: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Ensuring the reliability and robustness of AI systems.</a:t>
            </a:r>
          </a:p>
          <a:p>
            <a:pPr marL="742950" lvl="1"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Dealing with the complexity of integration into existing systems.</a:t>
            </a:r>
          </a:p>
          <a:p>
            <a:pPr marL="742950" lvl="1"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need for skilled talent to develop, deploy, and maintain AI solutions.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Emerging Trends:</a:t>
            </a:r>
            <a:r>
              <a:rPr lang="en-US"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Federated Learning:</a:t>
            </a:r>
            <a:r>
              <a:rPr lang="en-US" sz="1800" dirty="0">
                <a:latin typeface="Times New Roman" panose="02020603050405020304" pitchFamily="18" charset="0"/>
                <a:cs typeface="Times New Roman" panose="02020603050405020304" pitchFamily="18" charset="0"/>
              </a:rPr>
              <a:t> For privacy-preserving model training using decentralized data.</a:t>
            </a:r>
          </a:p>
          <a:p>
            <a:pPr marL="742950" lvl="1"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Edge AI:</a:t>
            </a:r>
            <a:r>
              <a:rPr lang="en-US" sz="1800" dirty="0">
                <a:latin typeface="Times New Roman" panose="02020603050405020304" pitchFamily="18" charset="0"/>
                <a:cs typeface="Times New Roman" panose="02020603050405020304" pitchFamily="18" charset="0"/>
              </a:rPr>
              <a:t> Enabling on-device processing and real-time responses.</a:t>
            </a:r>
          </a:p>
          <a:p>
            <a:pPr marL="742950" lvl="1" indent="-285750">
              <a:buFont typeface="Arial" panose="020B0604020202020204" pitchFamily="34" charset="0"/>
              <a:buChar char="•"/>
            </a:pPr>
            <a:r>
              <a:rPr lang="en-US" sz="1800" b="1" dirty="0" err="1">
                <a:latin typeface="Times New Roman" panose="02020603050405020304" pitchFamily="18" charset="0"/>
                <a:cs typeface="Times New Roman" panose="02020603050405020304" pitchFamily="18" charset="0"/>
              </a:rPr>
              <a:t>AutoML</a:t>
            </a:r>
            <a:r>
              <a:rPr lang="en-US" sz="1800" b="1" dirty="0">
                <a:latin typeface="Times New Roman" panose="02020603050405020304" pitchFamily="18" charset="0"/>
                <a:cs typeface="Times New Roman" panose="02020603050405020304" pitchFamily="18" charset="0"/>
              </a:rPr>
              <a:t> and No-Code AI:</a:t>
            </a:r>
            <a:r>
              <a:rPr lang="en-US" sz="1800" dirty="0">
                <a:latin typeface="Times New Roman" panose="02020603050405020304" pitchFamily="18" charset="0"/>
                <a:cs typeface="Times New Roman" panose="02020603050405020304" pitchFamily="18" charset="0"/>
              </a:rPr>
              <a:t> Increasing accessibility to AI development for a wider range of users.</a:t>
            </a:r>
          </a:p>
          <a:p>
            <a:pPr marL="742950" lvl="1"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Multimodal AI:</a:t>
            </a:r>
            <a:r>
              <a:rPr lang="en-US" sz="1800" dirty="0">
                <a:latin typeface="Times New Roman" panose="02020603050405020304" pitchFamily="18" charset="0"/>
                <a:cs typeface="Times New Roman" panose="02020603050405020304" pitchFamily="18" charset="0"/>
              </a:rPr>
              <a:t> Systems capable of processing and understanding multiple types of data simultaneously (e.g., text, images, audio)</a:t>
            </a:r>
          </a:p>
          <a:p>
            <a:endParaRPr lang="en-MY"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A2174B6-F1C8-EDDA-6D74-0B5608F46546}"/>
              </a:ext>
            </a:extLst>
          </p:cNvPr>
          <p:cNvSpPr>
            <a:spLocks noGrp="1"/>
          </p:cNvSpPr>
          <p:nvPr>
            <p:ph type="sldNum" sz="quarter" idx="12"/>
          </p:nvPr>
        </p:nvSpPr>
        <p:spPr/>
        <p:txBody>
          <a:bodyPr/>
          <a:lstStyle/>
          <a:p>
            <a:fld id="{C1FF6DA9-008F-8B48-92A6-B652298478BF}" type="slidenum">
              <a:rPr lang="en-US" smtClean="0"/>
              <a:t>24</a:t>
            </a:fld>
            <a:endParaRPr lang="en-US"/>
          </a:p>
        </p:txBody>
      </p:sp>
    </p:spTree>
    <p:extLst>
      <p:ext uri="{BB962C8B-B14F-4D97-AF65-F5344CB8AC3E}">
        <p14:creationId xmlns:p14="http://schemas.microsoft.com/office/powerpoint/2010/main" val="36013353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259C4-0646-21F0-8C99-C3D69D831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313C63-7723-9144-15BB-3E6055A379F3}"/>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Expert Systems</a:t>
            </a:r>
            <a:endParaRPr lang="en-MY" dirty="0"/>
          </a:p>
        </p:txBody>
      </p:sp>
      <p:sp>
        <p:nvSpPr>
          <p:cNvPr id="3" name="Content Placeholder 2">
            <a:extLst>
              <a:ext uri="{FF2B5EF4-FFF2-40B4-BE49-F238E27FC236}">
                <a16:creationId xmlns:a16="http://schemas.microsoft.com/office/drawing/2014/main" id="{E02F6E89-5947-93D2-1304-9E58D9AE1414}"/>
              </a:ext>
            </a:extLst>
          </p:cNvPr>
          <p:cNvSpPr>
            <a:spLocks noGrp="1"/>
          </p:cNvSpPr>
          <p:nvPr>
            <p:ph idx="1"/>
          </p:nvPr>
        </p:nvSpPr>
        <p:spPr>
          <a:xfrm>
            <a:off x="577124" y="1516121"/>
            <a:ext cx="7989752" cy="3630795"/>
          </a:xfrm>
        </p:spPr>
        <p:txBody>
          <a:bodyPr>
            <a:normAutofit lnSpcReduction="10000"/>
          </a:bodyPr>
          <a:lstStyle/>
          <a:p>
            <a:pPr algn="l">
              <a:spcBef>
                <a:spcPts val="900"/>
              </a:spcBef>
              <a:spcAft>
                <a:spcPts val="900"/>
              </a:spcAft>
              <a:buFont typeface="Arial" panose="020B0604020202020204" pitchFamily="34" charset="0"/>
              <a:buChar char="•"/>
            </a:pPr>
            <a:r>
              <a:rPr lang="en-US" sz="2000" b="1" i="0" dirty="0">
                <a:solidFill>
                  <a:srgbClr val="2C2C36"/>
                </a:solidFill>
                <a:effectLst/>
              </a:rPr>
              <a:t>Expert Systems </a:t>
            </a:r>
            <a:r>
              <a:rPr lang="en-US" sz="2000" b="0" i="0" dirty="0">
                <a:solidFill>
                  <a:srgbClr val="2C2C36"/>
                </a:solidFill>
                <a:effectLst/>
              </a:rPr>
              <a:t>Designed to solve complex problems that typically require human intelligence.</a:t>
            </a:r>
          </a:p>
          <a:p>
            <a:pPr algn="l">
              <a:spcBef>
                <a:spcPts val="900"/>
              </a:spcBef>
              <a:spcAft>
                <a:spcPts val="900"/>
              </a:spcAft>
              <a:buFont typeface="Arial" panose="020B0604020202020204" pitchFamily="34" charset="0"/>
              <a:buChar char="•"/>
            </a:pPr>
            <a:r>
              <a:rPr lang="en-US" sz="2000" b="0" i="0" dirty="0">
                <a:solidFill>
                  <a:srgbClr val="111827"/>
                </a:solidFill>
                <a:effectLst/>
              </a:rPr>
              <a:t>Three Components:</a:t>
            </a:r>
            <a:endParaRPr lang="en-US" sz="2000" b="0" i="0" dirty="0">
              <a:solidFill>
                <a:srgbClr val="2C2C36"/>
              </a:solidFill>
              <a:effectLst/>
            </a:endParaRPr>
          </a:p>
          <a:p>
            <a:pPr marL="742950" lvl="1" indent="-285750" algn="l">
              <a:spcBef>
                <a:spcPts val="900"/>
              </a:spcBef>
              <a:spcAft>
                <a:spcPts val="900"/>
              </a:spcAft>
              <a:buFont typeface="Arial" panose="020B0604020202020204" pitchFamily="34" charset="0"/>
              <a:buChar char="•"/>
            </a:pPr>
            <a:r>
              <a:rPr lang="en-US" sz="1800" b="0" i="0" dirty="0">
                <a:solidFill>
                  <a:srgbClr val="111827"/>
                </a:solidFill>
                <a:effectLst/>
              </a:rPr>
              <a:t>Knowledge Base: </a:t>
            </a:r>
            <a:r>
              <a:rPr lang="en-US" sz="1800" b="0" i="0" dirty="0">
                <a:solidFill>
                  <a:srgbClr val="2C2C36"/>
                </a:solidFill>
                <a:effectLst/>
              </a:rPr>
              <a:t>Stores facts and rules.</a:t>
            </a:r>
          </a:p>
          <a:p>
            <a:pPr marL="742950" lvl="1" indent="-285750" algn="l">
              <a:spcBef>
                <a:spcPts val="900"/>
              </a:spcBef>
              <a:spcAft>
                <a:spcPts val="900"/>
              </a:spcAft>
              <a:buFont typeface="Arial" panose="020B0604020202020204" pitchFamily="34" charset="0"/>
              <a:buChar char="•"/>
            </a:pPr>
            <a:r>
              <a:rPr lang="en-US" sz="1800" b="0" i="0" dirty="0">
                <a:solidFill>
                  <a:srgbClr val="111827"/>
                </a:solidFill>
                <a:effectLst/>
              </a:rPr>
              <a:t>Inference Engine: </a:t>
            </a:r>
            <a:r>
              <a:rPr lang="en-US" sz="1800" b="0" i="0" dirty="0">
                <a:solidFill>
                  <a:srgbClr val="2C2C36"/>
                </a:solidFill>
                <a:effectLst/>
              </a:rPr>
              <a:t>Applies rules to derive conclusions.</a:t>
            </a:r>
          </a:p>
          <a:p>
            <a:pPr marL="742950" lvl="1" indent="-285750" algn="l">
              <a:spcBef>
                <a:spcPts val="900"/>
              </a:spcBef>
              <a:spcAft>
                <a:spcPts val="900"/>
              </a:spcAft>
              <a:buFont typeface="Arial" panose="020B0604020202020204" pitchFamily="34" charset="0"/>
              <a:buChar char="•"/>
            </a:pPr>
            <a:r>
              <a:rPr lang="en-US" sz="1800" b="0" i="0" dirty="0">
                <a:solidFill>
                  <a:srgbClr val="111827"/>
                </a:solidFill>
                <a:effectLst/>
              </a:rPr>
              <a:t>User Interface: </a:t>
            </a:r>
            <a:r>
              <a:rPr lang="en-US" sz="1800" b="0" i="0" dirty="0">
                <a:solidFill>
                  <a:srgbClr val="2C2C36"/>
                </a:solidFill>
                <a:effectLst/>
              </a:rPr>
              <a:t>Connects user and system.</a:t>
            </a:r>
          </a:p>
          <a:p>
            <a:pPr marL="457200" lvl="1" indent="0" algn="l">
              <a:spcBef>
                <a:spcPts val="900"/>
              </a:spcBef>
              <a:spcAft>
                <a:spcPts val="900"/>
              </a:spcAft>
              <a:buNone/>
            </a:pPr>
            <a:r>
              <a:rPr lang="en-MY" sz="1800" b="0" i="0" dirty="0">
                <a:solidFill>
                  <a:srgbClr val="2C2C36"/>
                </a:solidFill>
                <a:effectLst/>
              </a:rPr>
              <a:t>Example :</a:t>
            </a:r>
          </a:p>
          <a:p>
            <a:pPr marL="457200" lvl="1" indent="0" algn="l">
              <a:spcBef>
                <a:spcPts val="900"/>
              </a:spcBef>
              <a:spcAft>
                <a:spcPts val="900"/>
              </a:spcAft>
              <a:buNone/>
            </a:pPr>
            <a:r>
              <a:rPr lang="en-MY" sz="1800" b="0" i="0" dirty="0">
                <a:solidFill>
                  <a:srgbClr val="2C2C36"/>
                </a:solidFill>
                <a:effectLst/>
              </a:rPr>
              <a:t>Medical diagnosis tools </a:t>
            </a:r>
            <a:endParaRPr lang="en-US" sz="1800" b="0" i="0" dirty="0">
              <a:solidFill>
                <a:srgbClr val="2C2C36"/>
              </a:solidFill>
              <a:effectLst/>
            </a:endParaRPr>
          </a:p>
        </p:txBody>
      </p:sp>
      <p:sp>
        <p:nvSpPr>
          <p:cNvPr id="4" name="Slide Number Placeholder 3">
            <a:extLst>
              <a:ext uri="{FF2B5EF4-FFF2-40B4-BE49-F238E27FC236}">
                <a16:creationId xmlns:a16="http://schemas.microsoft.com/office/drawing/2014/main" id="{D69EF289-A103-8763-43E8-6F4CF15BFAD8}"/>
              </a:ext>
            </a:extLst>
          </p:cNvPr>
          <p:cNvSpPr>
            <a:spLocks noGrp="1"/>
          </p:cNvSpPr>
          <p:nvPr>
            <p:ph type="sldNum" sz="quarter" idx="12"/>
          </p:nvPr>
        </p:nvSpPr>
        <p:spPr/>
        <p:txBody>
          <a:bodyPr/>
          <a:lstStyle/>
          <a:p>
            <a:fld id="{C1FF6DA9-008F-8B48-92A6-B652298478BF}" type="slidenum">
              <a:rPr lang="en-US" smtClean="0"/>
              <a:t>25</a:t>
            </a:fld>
            <a:endParaRPr lang="en-US"/>
          </a:p>
        </p:txBody>
      </p:sp>
    </p:spTree>
    <p:extLst>
      <p:ext uri="{BB962C8B-B14F-4D97-AF65-F5344CB8AC3E}">
        <p14:creationId xmlns:p14="http://schemas.microsoft.com/office/powerpoint/2010/main" val="41625711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A16C9-313C-D265-5C5B-D1C9D4781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846A1B-3843-77CE-BE03-407C9E647DC9}"/>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Expert Systems</a:t>
            </a:r>
            <a:endParaRPr lang="en-MY" dirty="0"/>
          </a:p>
        </p:txBody>
      </p:sp>
      <p:sp>
        <p:nvSpPr>
          <p:cNvPr id="4" name="Slide Number Placeholder 3">
            <a:extLst>
              <a:ext uri="{FF2B5EF4-FFF2-40B4-BE49-F238E27FC236}">
                <a16:creationId xmlns:a16="http://schemas.microsoft.com/office/drawing/2014/main" id="{F33CE149-076C-CAA5-9CD5-4EB03360CB3A}"/>
              </a:ext>
            </a:extLst>
          </p:cNvPr>
          <p:cNvSpPr>
            <a:spLocks noGrp="1"/>
          </p:cNvSpPr>
          <p:nvPr>
            <p:ph type="sldNum" sz="quarter" idx="12"/>
          </p:nvPr>
        </p:nvSpPr>
        <p:spPr/>
        <p:txBody>
          <a:bodyPr/>
          <a:lstStyle/>
          <a:p>
            <a:fld id="{C1FF6DA9-008F-8B48-92A6-B652298478BF}" type="slidenum">
              <a:rPr lang="en-US" smtClean="0"/>
              <a:t>26</a:t>
            </a:fld>
            <a:endParaRPr lang="en-US"/>
          </a:p>
        </p:txBody>
      </p:sp>
      <p:pic>
        <p:nvPicPr>
          <p:cNvPr id="6146" name="Picture 2" descr="AI and Expert Systems: All You Need to Know">
            <a:extLst>
              <a:ext uri="{FF2B5EF4-FFF2-40B4-BE49-F238E27FC236}">
                <a16:creationId xmlns:a16="http://schemas.microsoft.com/office/drawing/2014/main" id="{FFA84C53-059C-4B58-42C3-6A920111BE3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95759" y="1771720"/>
            <a:ext cx="6942888" cy="2910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07047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286A9-DCBC-BD23-031B-3E71E1201DD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90F8E8-2779-570F-D373-803670E38463}"/>
              </a:ext>
            </a:extLst>
          </p:cNvPr>
          <p:cNvSpPr>
            <a:spLocks noGrp="1"/>
          </p:cNvSpPr>
          <p:nvPr>
            <p:ph type="sldNum" sz="quarter" idx="12"/>
          </p:nvPr>
        </p:nvSpPr>
        <p:spPr/>
        <p:txBody>
          <a:bodyPr/>
          <a:lstStyle/>
          <a:p>
            <a:fld id="{C1FF6DA9-008F-8B48-92A6-B652298478BF}" type="slidenum">
              <a:rPr lang="en-US" smtClean="0"/>
              <a:t>27</a:t>
            </a:fld>
            <a:endParaRPr lang="en-US"/>
          </a:p>
        </p:txBody>
      </p:sp>
      <p:sp>
        <p:nvSpPr>
          <p:cNvPr id="3" name="Content Placeholder 2">
            <a:extLst>
              <a:ext uri="{FF2B5EF4-FFF2-40B4-BE49-F238E27FC236}">
                <a16:creationId xmlns:a16="http://schemas.microsoft.com/office/drawing/2014/main" id="{191E4479-D249-1D1E-72A8-342D214F8343}"/>
              </a:ext>
            </a:extLst>
          </p:cNvPr>
          <p:cNvSpPr>
            <a:spLocks noGrp="1"/>
          </p:cNvSpPr>
          <p:nvPr>
            <p:ph idx="1"/>
          </p:nvPr>
        </p:nvSpPr>
        <p:spPr>
          <a:xfrm>
            <a:off x="477465" y="1613602"/>
            <a:ext cx="7989752" cy="3630795"/>
          </a:xfrm>
        </p:spPr>
        <p:txBody>
          <a:bodyPr>
            <a:normAutofit/>
          </a:bodyPr>
          <a:lstStyle/>
          <a:p>
            <a:pPr algn="just"/>
            <a:r>
              <a:rPr lang="en-US" sz="4000" dirty="0"/>
              <a:t>Artificial Intelligence is not here to replace humans, but to assist and augment what we can do. The real question is: how can we use AI responsibly?</a:t>
            </a:r>
            <a:endParaRPr lang="en-MY" sz="4000" dirty="0"/>
          </a:p>
        </p:txBody>
      </p:sp>
    </p:spTree>
    <p:extLst>
      <p:ext uri="{BB962C8B-B14F-4D97-AF65-F5344CB8AC3E}">
        <p14:creationId xmlns:p14="http://schemas.microsoft.com/office/powerpoint/2010/main" val="1150651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739 Thank You Page Stock Photos - Free &amp; Royalty-Free Stock Photos from  Dreamstime">
            <a:extLst>
              <a:ext uri="{FF2B5EF4-FFF2-40B4-BE49-F238E27FC236}">
                <a16:creationId xmlns:a16="http://schemas.microsoft.com/office/drawing/2014/main" id="{2CC61A6E-F48B-4D37-B78D-C54238A3D7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9415"/>
          <a:stretch/>
        </p:blipFill>
        <p:spPr bwMode="auto">
          <a:xfrm>
            <a:off x="599821" y="626166"/>
            <a:ext cx="8231096" cy="485029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43AB2FB-CD8A-4A06-8F13-BC02003E046E}"/>
              </a:ext>
            </a:extLst>
          </p:cNvPr>
          <p:cNvSpPr>
            <a:spLocks noGrp="1"/>
          </p:cNvSpPr>
          <p:nvPr>
            <p:ph type="sldNum" sz="quarter" idx="12"/>
          </p:nvPr>
        </p:nvSpPr>
        <p:spPr/>
        <p:txBody>
          <a:bodyPr/>
          <a:lstStyle/>
          <a:p>
            <a:fld id="{C1FF6DA9-008F-8B48-92A6-B652298478BF}" type="slidenum">
              <a:rPr lang="en-US" smtClean="0"/>
              <a:t>28</a:t>
            </a:fld>
            <a:endParaRPr lang="en-US"/>
          </a:p>
        </p:txBody>
      </p:sp>
    </p:spTree>
    <p:extLst>
      <p:ext uri="{BB962C8B-B14F-4D97-AF65-F5344CB8AC3E}">
        <p14:creationId xmlns:p14="http://schemas.microsoft.com/office/powerpoint/2010/main" val="1686066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5718</TotalTime>
  <Words>1277</Words>
  <Application>Microsoft Office PowerPoint</Application>
  <PresentationFormat>On-screen Show (4:3)</PresentationFormat>
  <Paragraphs>179</Paragraphs>
  <Slides>28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Gill Sans MT</vt:lpstr>
      <vt:lpstr>Segoe UI</vt:lpstr>
      <vt:lpstr>Times New Roman</vt:lpstr>
      <vt:lpstr>Wingdings</vt:lpstr>
      <vt:lpstr>Wingdings 2</vt:lpstr>
      <vt:lpstr>Dividend</vt:lpstr>
      <vt:lpstr>PowerPoint Presentation</vt:lpstr>
      <vt:lpstr>  </vt:lpstr>
      <vt:lpstr>Learning Outcomes</vt:lpstr>
      <vt:lpstr>Introduction  </vt:lpstr>
      <vt:lpstr>Introduction  </vt:lpstr>
      <vt:lpstr>Introduction  </vt:lpstr>
      <vt:lpstr>Introduction  </vt:lpstr>
      <vt:lpstr>Introduction  </vt:lpstr>
      <vt:lpstr>Introduction  </vt:lpstr>
      <vt:lpstr>What is Artificial Intelligence  </vt:lpstr>
      <vt:lpstr>What is Intelligence  </vt:lpstr>
      <vt:lpstr>Examples </vt:lpstr>
      <vt:lpstr>Categories of AI </vt:lpstr>
      <vt:lpstr>Categories of AI </vt:lpstr>
      <vt:lpstr>Categories of AI </vt:lpstr>
      <vt:lpstr>Categories of AI </vt:lpstr>
      <vt:lpstr>Goals of Studying AI</vt:lpstr>
      <vt:lpstr>Goals of Studying AI</vt:lpstr>
      <vt:lpstr>Branches of AI</vt:lpstr>
      <vt:lpstr>Branches of AI</vt:lpstr>
      <vt:lpstr>Applications of AI in the Real World</vt:lpstr>
      <vt:lpstr>Applications of AI in the Real World</vt:lpstr>
      <vt:lpstr>Applications of AI in the Real World</vt:lpstr>
      <vt:lpstr>  Challenges and Future Trends in Applied AI</vt:lpstr>
      <vt:lpstr>Expert Systems</vt:lpstr>
      <vt:lpstr>Expert Systems</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Optimized Blockchain Model for Secure and Efficient Data Management in Internet of Things</dc:title>
  <dc:subject/>
  <dc:creator>ZEYAD</dc:creator>
  <cp:keywords/>
  <dc:description>generated using python-pptx</dc:description>
  <cp:lastModifiedBy>Zeyad Abdulhameed Taha Ahmed Dr.</cp:lastModifiedBy>
  <cp:revision>389</cp:revision>
  <dcterms:created xsi:type="dcterms:W3CDTF">2013-01-27T09:14:16Z</dcterms:created>
  <dcterms:modified xsi:type="dcterms:W3CDTF">2026-08-15T03:40:53Z</dcterms:modified>
  <cp:category/>
</cp:coreProperties>
</file>